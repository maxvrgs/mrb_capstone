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Montaser Arabic" panose="020B0604020202020204" charset="-78"/>
      <p:regular r:id="rId16"/>
    </p:embeddedFont>
    <p:embeddedFont>
      <p:font typeface="Montaser Arabic Bold" panose="020B0604020202020204" charset="-78"/>
      <p:regular r:id="rId17"/>
    </p:embeddedFont>
    <p:embeddedFont>
      <p:font typeface="Raleway" pitchFamily="2" charset="0"/>
      <p:regular r:id="rId18"/>
    </p:embeddedFont>
    <p:embeddedFont>
      <p:font typeface="Raleway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1300" y="2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5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svg"/><Relationship Id="rId5" Type="http://schemas.openxmlformats.org/officeDocument/2006/relationships/image" Target="../media/image2.svg"/><Relationship Id="rId4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4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27790" y="3025717"/>
            <a:ext cx="8288735" cy="7549656"/>
          </a:xfrm>
          <a:custGeom>
            <a:avLst/>
            <a:gdLst/>
            <a:ahLst/>
            <a:cxnLst/>
            <a:rect l="l" t="t" r="r" b="b"/>
            <a:pathLst>
              <a:path w="8288735" h="7549656">
                <a:moveTo>
                  <a:pt x="0" y="0"/>
                </a:moveTo>
                <a:lnTo>
                  <a:pt x="8288735" y="0"/>
                </a:lnTo>
                <a:lnTo>
                  <a:pt x="8288735" y="7549656"/>
                </a:lnTo>
                <a:lnTo>
                  <a:pt x="0" y="75496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 flipV="1">
            <a:off x="1459514" y="-1673036"/>
            <a:ext cx="2794156" cy="5846533"/>
          </a:xfrm>
          <a:custGeom>
            <a:avLst/>
            <a:gdLst/>
            <a:ahLst/>
            <a:cxnLst/>
            <a:rect l="l" t="t" r="r" b="b"/>
            <a:pathLst>
              <a:path w="2794156" h="5846533">
                <a:moveTo>
                  <a:pt x="0" y="5846533"/>
                </a:moveTo>
                <a:lnTo>
                  <a:pt x="2794156" y="5846533"/>
                </a:lnTo>
                <a:lnTo>
                  <a:pt x="2794156" y="0"/>
                </a:lnTo>
                <a:lnTo>
                  <a:pt x="0" y="0"/>
                </a:lnTo>
                <a:lnTo>
                  <a:pt x="0" y="584653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760638" y="8596643"/>
            <a:ext cx="4527362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2" y="0"/>
                </a:lnTo>
                <a:lnTo>
                  <a:pt x="4527362" y="1011111"/>
                </a:lnTo>
                <a:lnTo>
                  <a:pt x="0" y="1011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4381263" y="766104"/>
            <a:ext cx="4527362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2" y="0"/>
                </a:lnTo>
                <a:lnTo>
                  <a:pt x="4527362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14460" y="7063382"/>
            <a:ext cx="6148062" cy="1207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3"/>
              </a:lnSpc>
            </a:pPr>
            <a:r>
              <a:rPr lang="en-US" sz="2866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Integrantes: Renato Astargo</a:t>
            </a:r>
          </a:p>
          <a:p>
            <a:pPr algn="l">
              <a:lnSpc>
                <a:spcPts val="3153"/>
              </a:lnSpc>
            </a:pPr>
            <a:r>
              <a:rPr lang="en-US" sz="2866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                      Maximiliano Vargas</a:t>
            </a:r>
          </a:p>
          <a:p>
            <a:pPr marL="0" lvl="0" indent="0" algn="l">
              <a:lnSpc>
                <a:spcPts val="3153"/>
              </a:lnSpc>
            </a:pPr>
            <a:r>
              <a:rPr lang="en-US" sz="2866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                      Bryan Aravena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4460" y="8449480"/>
            <a:ext cx="6148062" cy="808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3"/>
              </a:lnSpc>
            </a:pPr>
            <a:r>
              <a:rPr lang="en-US" sz="2866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Profesor: Aldo Martinez</a:t>
            </a:r>
          </a:p>
          <a:p>
            <a:pPr marL="0" lvl="0" indent="0" algn="l">
              <a:lnSpc>
                <a:spcPts val="3153"/>
              </a:lnSpc>
            </a:pPr>
            <a:r>
              <a:rPr lang="en-US" sz="2866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Seccion: 800D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1360551-8D52-D8D7-6CED-1DC4F454DB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571" y="-1114596"/>
            <a:ext cx="9942857" cy="75238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4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460935" y="251782"/>
            <a:ext cx="646182" cy="657675"/>
            <a:chOff x="0" y="0"/>
            <a:chExt cx="6239028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239028" cy="6350000"/>
            </a:xfrm>
            <a:custGeom>
              <a:avLst/>
              <a:gdLst/>
              <a:ahLst/>
              <a:cxnLst/>
              <a:rect l="l" t="t" r="r" b="b"/>
              <a:pathLst>
                <a:path w="6239028" h="6350000">
                  <a:moveTo>
                    <a:pt x="3119514" y="0"/>
                  </a:moveTo>
                  <a:cubicBezTo>
                    <a:pt x="1396654" y="0"/>
                    <a:pt x="0" y="1421496"/>
                    <a:pt x="0" y="3175000"/>
                  </a:cubicBezTo>
                  <a:cubicBezTo>
                    <a:pt x="0" y="4928504"/>
                    <a:pt x="1396654" y="6350000"/>
                    <a:pt x="3119514" y="6350000"/>
                  </a:cubicBezTo>
                  <a:cubicBezTo>
                    <a:pt x="4842374" y="6350000"/>
                    <a:pt x="6239028" y="4928504"/>
                    <a:pt x="6239028" y="3175000"/>
                  </a:cubicBezTo>
                  <a:cubicBezTo>
                    <a:pt x="6239028" y="1421496"/>
                    <a:pt x="4842374" y="0"/>
                    <a:pt x="3119514" y="0"/>
                  </a:cubicBezTo>
                  <a:close/>
                </a:path>
              </a:pathLst>
            </a:custGeom>
            <a:solidFill>
              <a:srgbClr val="117CC2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5460935" y="1911011"/>
            <a:ext cx="646182" cy="657675"/>
            <a:chOff x="0" y="0"/>
            <a:chExt cx="6239028" cy="6350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239028" cy="6350000"/>
            </a:xfrm>
            <a:custGeom>
              <a:avLst/>
              <a:gdLst/>
              <a:ahLst/>
              <a:cxnLst/>
              <a:rect l="l" t="t" r="r" b="b"/>
              <a:pathLst>
                <a:path w="6239028" h="6350000">
                  <a:moveTo>
                    <a:pt x="3119514" y="0"/>
                  </a:moveTo>
                  <a:cubicBezTo>
                    <a:pt x="1396654" y="0"/>
                    <a:pt x="0" y="1421496"/>
                    <a:pt x="0" y="3175000"/>
                  </a:cubicBezTo>
                  <a:cubicBezTo>
                    <a:pt x="0" y="4928504"/>
                    <a:pt x="1396654" y="6350000"/>
                    <a:pt x="3119514" y="6350000"/>
                  </a:cubicBezTo>
                  <a:cubicBezTo>
                    <a:pt x="4842374" y="6350000"/>
                    <a:pt x="6239028" y="4928504"/>
                    <a:pt x="6239028" y="3175000"/>
                  </a:cubicBezTo>
                  <a:cubicBezTo>
                    <a:pt x="6239028" y="1421496"/>
                    <a:pt x="4842374" y="0"/>
                    <a:pt x="3119514" y="0"/>
                  </a:cubicBezTo>
                  <a:close/>
                </a:path>
              </a:pathLst>
            </a:custGeom>
            <a:solidFill>
              <a:srgbClr val="117CC2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5460935" y="1081396"/>
            <a:ext cx="646182" cy="657675"/>
            <a:chOff x="0" y="0"/>
            <a:chExt cx="6239028" cy="635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239028" cy="6350000"/>
            </a:xfrm>
            <a:custGeom>
              <a:avLst/>
              <a:gdLst/>
              <a:ahLst/>
              <a:cxnLst/>
              <a:rect l="l" t="t" r="r" b="b"/>
              <a:pathLst>
                <a:path w="6239028" h="6350000">
                  <a:moveTo>
                    <a:pt x="3119514" y="0"/>
                  </a:moveTo>
                  <a:cubicBezTo>
                    <a:pt x="1396654" y="0"/>
                    <a:pt x="0" y="1421496"/>
                    <a:pt x="0" y="3175000"/>
                  </a:cubicBezTo>
                  <a:cubicBezTo>
                    <a:pt x="0" y="4928504"/>
                    <a:pt x="1396654" y="6350000"/>
                    <a:pt x="3119514" y="6350000"/>
                  </a:cubicBezTo>
                  <a:cubicBezTo>
                    <a:pt x="4842374" y="6350000"/>
                    <a:pt x="6239028" y="4928504"/>
                    <a:pt x="6239028" y="3175000"/>
                  </a:cubicBezTo>
                  <a:cubicBezTo>
                    <a:pt x="6239028" y="1421496"/>
                    <a:pt x="4842374" y="0"/>
                    <a:pt x="3119514" y="0"/>
                  </a:cubicBezTo>
                  <a:close/>
                </a:path>
              </a:pathLst>
            </a:custGeom>
            <a:solidFill>
              <a:srgbClr val="117CC2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5460935" y="4399855"/>
            <a:ext cx="646182" cy="657675"/>
            <a:chOff x="0" y="0"/>
            <a:chExt cx="6239028" cy="635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239028" cy="6350000"/>
            </a:xfrm>
            <a:custGeom>
              <a:avLst/>
              <a:gdLst/>
              <a:ahLst/>
              <a:cxnLst/>
              <a:rect l="l" t="t" r="r" b="b"/>
              <a:pathLst>
                <a:path w="6239028" h="6350000">
                  <a:moveTo>
                    <a:pt x="3119514" y="0"/>
                  </a:moveTo>
                  <a:cubicBezTo>
                    <a:pt x="1396654" y="0"/>
                    <a:pt x="0" y="1421496"/>
                    <a:pt x="0" y="3175000"/>
                  </a:cubicBezTo>
                  <a:cubicBezTo>
                    <a:pt x="0" y="4928504"/>
                    <a:pt x="1396654" y="6350000"/>
                    <a:pt x="3119514" y="6350000"/>
                  </a:cubicBezTo>
                  <a:cubicBezTo>
                    <a:pt x="4842374" y="6350000"/>
                    <a:pt x="6239028" y="4928504"/>
                    <a:pt x="6239028" y="3175000"/>
                  </a:cubicBezTo>
                  <a:cubicBezTo>
                    <a:pt x="6239028" y="1421496"/>
                    <a:pt x="4842374" y="0"/>
                    <a:pt x="3119514" y="0"/>
                  </a:cubicBezTo>
                  <a:close/>
                </a:path>
              </a:pathLst>
            </a:custGeom>
            <a:solidFill>
              <a:srgbClr val="117CC2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5460935" y="3570240"/>
            <a:ext cx="646182" cy="657675"/>
            <a:chOff x="0" y="0"/>
            <a:chExt cx="6239028" cy="6350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239028" cy="6350000"/>
            </a:xfrm>
            <a:custGeom>
              <a:avLst/>
              <a:gdLst/>
              <a:ahLst/>
              <a:cxnLst/>
              <a:rect l="l" t="t" r="r" b="b"/>
              <a:pathLst>
                <a:path w="6239028" h="6350000">
                  <a:moveTo>
                    <a:pt x="3119514" y="0"/>
                  </a:moveTo>
                  <a:cubicBezTo>
                    <a:pt x="1396654" y="0"/>
                    <a:pt x="0" y="1421496"/>
                    <a:pt x="0" y="3175000"/>
                  </a:cubicBezTo>
                  <a:cubicBezTo>
                    <a:pt x="0" y="4928504"/>
                    <a:pt x="1396654" y="6350000"/>
                    <a:pt x="3119514" y="6350000"/>
                  </a:cubicBezTo>
                  <a:cubicBezTo>
                    <a:pt x="4842374" y="6350000"/>
                    <a:pt x="6239028" y="4928504"/>
                    <a:pt x="6239028" y="3175000"/>
                  </a:cubicBezTo>
                  <a:cubicBezTo>
                    <a:pt x="6239028" y="1421496"/>
                    <a:pt x="4842374" y="0"/>
                    <a:pt x="3119514" y="0"/>
                  </a:cubicBezTo>
                  <a:close/>
                </a:path>
              </a:pathLst>
            </a:custGeom>
            <a:solidFill>
              <a:srgbClr val="117CC2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5460935" y="2740626"/>
            <a:ext cx="646182" cy="657675"/>
            <a:chOff x="0" y="0"/>
            <a:chExt cx="6239028" cy="6350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239028" cy="6350000"/>
            </a:xfrm>
            <a:custGeom>
              <a:avLst/>
              <a:gdLst/>
              <a:ahLst/>
              <a:cxnLst/>
              <a:rect l="l" t="t" r="r" b="b"/>
              <a:pathLst>
                <a:path w="6239028" h="6350000">
                  <a:moveTo>
                    <a:pt x="3119514" y="0"/>
                  </a:moveTo>
                  <a:cubicBezTo>
                    <a:pt x="1396654" y="0"/>
                    <a:pt x="0" y="1421496"/>
                    <a:pt x="0" y="3175000"/>
                  </a:cubicBezTo>
                  <a:cubicBezTo>
                    <a:pt x="0" y="4928504"/>
                    <a:pt x="1396654" y="6350000"/>
                    <a:pt x="3119514" y="6350000"/>
                  </a:cubicBezTo>
                  <a:cubicBezTo>
                    <a:pt x="4842374" y="6350000"/>
                    <a:pt x="6239028" y="4928504"/>
                    <a:pt x="6239028" y="3175000"/>
                  </a:cubicBezTo>
                  <a:cubicBezTo>
                    <a:pt x="6239028" y="1421496"/>
                    <a:pt x="4842374" y="0"/>
                    <a:pt x="3119514" y="0"/>
                  </a:cubicBezTo>
                  <a:close/>
                </a:path>
              </a:pathLst>
            </a:custGeom>
            <a:solidFill>
              <a:srgbClr val="117CC2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5460935" y="5229470"/>
            <a:ext cx="646182" cy="657675"/>
            <a:chOff x="0" y="0"/>
            <a:chExt cx="6239028" cy="63500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239028" cy="6350000"/>
            </a:xfrm>
            <a:custGeom>
              <a:avLst/>
              <a:gdLst/>
              <a:ahLst/>
              <a:cxnLst/>
              <a:rect l="l" t="t" r="r" b="b"/>
              <a:pathLst>
                <a:path w="6239028" h="6350000">
                  <a:moveTo>
                    <a:pt x="3119514" y="0"/>
                  </a:moveTo>
                  <a:cubicBezTo>
                    <a:pt x="1396654" y="0"/>
                    <a:pt x="0" y="1421496"/>
                    <a:pt x="0" y="3175000"/>
                  </a:cubicBezTo>
                  <a:cubicBezTo>
                    <a:pt x="0" y="4928504"/>
                    <a:pt x="1396654" y="6350000"/>
                    <a:pt x="3119514" y="6350000"/>
                  </a:cubicBezTo>
                  <a:cubicBezTo>
                    <a:pt x="4842374" y="6350000"/>
                    <a:pt x="6239028" y="4928504"/>
                    <a:pt x="6239028" y="3175000"/>
                  </a:cubicBezTo>
                  <a:cubicBezTo>
                    <a:pt x="6239028" y="1421496"/>
                    <a:pt x="4842374" y="0"/>
                    <a:pt x="3119514" y="0"/>
                  </a:cubicBezTo>
                  <a:close/>
                </a:path>
              </a:pathLst>
            </a:custGeom>
            <a:solidFill>
              <a:srgbClr val="117CC2"/>
            </a:solidFill>
          </p:spPr>
        </p:sp>
      </p:grpSp>
      <p:sp>
        <p:nvSpPr>
          <p:cNvPr id="16" name="Freeform 16"/>
          <p:cNvSpPr/>
          <p:nvPr/>
        </p:nvSpPr>
        <p:spPr>
          <a:xfrm flipH="1">
            <a:off x="-394550" y="4877314"/>
            <a:ext cx="4627096" cy="5712464"/>
          </a:xfrm>
          <a:custGeom>
            <a:avLst/>
            <a:gdLst/>
            <a:ahLst/>
            <a:cxnLst/>
            <a:rect l="l" t="t" r="r" b="b"/>
            <a:pathLst>
              <a:path w="4627096" h="5712464">
                <a:moveTo>
                  <a:pt x="4627096" y="0"/>
                </a:moveTo>
                <a:lnTo>
                  <a:pt x="0" y="0"/>
                </a:lnTo>
                <a:lnTo>
                  <a:pt x="0" y="5712464"/>
                </a:lnTo>
                <a:lnTo>
                  <a:pt x="4627096" y="5712464"/>
                </a:lnTo>
                <a:lnTo>
                  <a:pt x="462709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6697750" y="85076"/>
            <a:ext cx="6129315" cy="743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24"/>
              </a:lnSpc>
            </a:pPr>
            <a:r>
              <a:rPr lang="en-US" sz="326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Introducción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697750" y="1744306"/>
            <a:ext cx="6129315" cy="743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524"/>
              </a:lnSpc>
              <a:spcBef>
                <a:spcPct val="0"/>
              </a:spcBef>
            </a:pPr>
            <a:r>
              <a:rPr lang="en-US" sz="326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Solución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97750" y="914691"/>
            <a:ext cx="6129315" cy="743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524"/>
              </a:lnSpc>
              <a:spcBef>
                <a:spcPct val="0"/>
              </a:spcBef>
            </a:pPr>
            <a:r>
              <a:rPr lang="en-US" sz="326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Contexto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697750" y="2573921"/>
            <a:ext cx="6129315" cy="743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524"/>
              </a:lnSpc>
              <a:spcBef>
                <a:spcPct val="0"/>
              </a:spcBef>
            </a:pPr>
            <a:r>
              <a:rPr lang="en-US" sz="326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Metodologia</a:t>
            </a:r>
          </a:p>
        </p:txBody>
      </p:sp>
      <p:sp>
        <p:nvSpPr>
          <p:cNvPr id="21" name="Freeform 21"/>
          <p:cNvSpPr/>
          <p:nvPr/>
        </p:nvSpPr>
        <p:spPr>
          <a:xfrm flipH="1">
            <a:off x="13643065" y="-227459"/>
            <a:ext cx="4854933" cy="5396868"/>
          </a:xfrm>
          <a:custGeom>
            <a:avLst/>
            <a:gdLst/>
            <a:ahLst/>
            <a:cxnLst/>
            <a:rect l="l" t="t" r="r" b="b"/>
            <a:pathLst>
              <a:path w="4854933" h="5396868">
                <a:moveTo>
                  <a:pt x="4854932" y="0"/>
                </a:moveTo>
                <a:lnTo>
                  <a:pt x="0" y="0"/>
                </a:lnTo>
                <a:lnTo>
                  <a:pt x="0" y="5396868"/>
                </a:lnTo>
                <a:lnTo>
                  <a:pt x="4854932" y="5396868"/>
                </a:lnTo>
                <a:lnTo>
                  <a:pt x="485493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 rot="-10800000">
            <a:off x="14746112" y="8752745"/>
            <a:ext cx="4527362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1" y="0"/>
                </a:lnTo>
                <a:lnTo>
                  <a:pt x="4527361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5555848" y="260227"/>
            <a:ext cx="456355" cy="526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19"/>
              </a:lnSpc>
            </a:pPr>
            <a:r>
              <a:rPr lang="en-US" sz="2751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555848" y="1919456"/>
            <a:ext cx="456355" cy="526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319"/>
              </a:lnSpc>
              <a:spcBef>
                <a:spcPct val="0"/>
              </a:spcBef>
            </a:pPr>
            <a:r>
              <a:rPr lang="en-US" sz="2751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555848" y="1089841"/>
            <a:ext cx="456355" cy="526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319"/>
              </a:lnSpc>
              <a:spcBef>
                <a:spcPct val="0"/>
              </a:spcBef>
            </a:pPr>
            <a:r>
              <a:rPr lang="en-US" sz="2751" b="1" u="non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555848" y="4408300"/>
            <a:ext cx="456355" cy="526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319"/>
              </a:lnSpc>
              <a:spcBef>
                <a:spcPct val="0"/>
              </a:spcBef>
            </a:pPr>
            <a:r>
              <a:rPr lang="en-US" sz="2751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6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555848" y="3578686"/>
            <a:ext cx="456355" cy="526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319"/>
              </a:lnSpc>
              <a:spcBef>
                <a:spcPct val="0"/>
              </a:spcBef>
            </a:pPr>
            <a:r>
              <a:rPr lang="en-US" sz="2751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555848" y="2749071"/>
            <a:ext cx="456355" cy="526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319"/>
              </a:lnSpc>
              <a:spcBef>
                <a:spcPct val="0"/>
              </a:spcBef>
            </a:pPr>
            <a:r>
              <a:rPr lang="en-US" sz="2751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97750" y="4233150"/>
            <a:ext cx="6129315" cy="743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524"/>
              </a:lnSpc>
              <a:spcBef>
                <a:spcPct val="0"/>
              </a:spcBef>
            </a:pPr>
            <a:r>
              <a:rPr lang="en-US" sz="326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Arquitectura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97750" y="3403535"/>
            <a:ext cx="6129315" cy="743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524"/>
              </a:lnSpc>
              <a:spcBef>
                <a:spcPct val="0"/>
              </a:spcBef>
            </a:pPr>
            <a:r>
              <a:rPr lang="en-US" sz="326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Roles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555848" y="5237915"/>
            <a:ext cx="456355" cy="526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319"/>
              </a:lnSpc>
              <a:spcBef>
                <a:spcPct val="0"/>
              </a:spcBef>
            </a:pPr>
            <a:r>
              <a:rPr lang="en-US" sz="2751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7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28700" y="616784"/>
            <a:ext cx="3112248" cy="1219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40"/>
              </a:lnSpc>
              <a:spcBef>
                <a:spcPct val="0"/>
              </a:spcBef>
            </a:pPr>
            <a:r>
              <a:rPr lang="en-US" sz="7950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Índice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5460935" y="6059085"/>
            <a:ext cx="646182" cy="657675"/>
            <a:chOff x="0" y="0"/>
            <a:chExt cx="6239028" cy="63500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239028" cy="6350000"/>
            </a:xfrm>
            <a:custGeom>
              <a:avLst/>
              <a:gdLst/>
              <a:ahLst/>
              <a:cxnLst/>
              <a:rect l="l" t="t" r="r" b="b"/>
              <a:pathLst>
                <a:path w="6239028" h="6350000">
                  <a:moveTo>
                    <a:pt x="3119514" y="0"/>
                  </a:moveTo>
                  <a:cubicBezTo>
                    <a:pt x="1396654" y="0"/>
                    <a:pt x="0" y="1421496"/>
                    <a:pt x="0" y="3175000"/>
                  </a:cubicBezTo>
                  <a:cubicBezTo>
                    <a:pt x="0" y="4928504"/>
                    <a:pt x="1396654" y="6350000"/>
                    <a:pt x="3119514" y="6350000"/>
                  </a:cubicBezTo>
                  <a:cubicBezTo>
                    <a:pt x="4842374" y="6350000"/>
                    <a:pt x="6239028" y="4928504"/>
                    <a:pt x="6239028" y="3175000"/>
                  </a:cubicBezTo>
                  <a:cubicBezTo>
                    <a:pt x="6239028" y="1421496"/>
                    <a:pt x="4842374" y="0"/>
                    <a:pt x="3119514" y="0"/>
                  </a:cubicBezTo>
                  <a:close/>
                </a:path>
              </a:pathLst>
            </a:custGeom>
            <a:solidFill>
              <a:srgbClr val="117CC2"/>
            </a:solidFill>
          </p:spPr>
        </p:sp>
      </p:grpSp>
      <p:sp>
        <p:nvSpPr>
          <p:cNvPr id="35" name="TextBox 35"/>
          <p:cNvSpPr txBox="1"/>
          <p:nvPr/>
        </p:nvSpPr>
        <p:spPr>
          <a:xfrm>
            <a:off x="6697750" y="5062765"/>
            <a:ext cx="6129315" cy="743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524"/>
              </a:lnSpc>
              <a:spcBef>
                <a:spcPct val="0"/>
              </a:spcBef>
            </a:pPr>
            <a:r>
              <a:rPr lang="en-US" sz="326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Competencias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555848" y="6067530"/>
            <a:ext cx="456355" cy="526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319"/>
              </a:lnSpc>
              <a:spcBef>
                <a:spcPct val="0"/>
              </a:spcBef>
            </a:pPr>
            <a:r>
              <a:rPr lang="en-US" sz="2751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8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5460935" y="6888699"/>
            <a:ext cx="646182" cy="657675"/>
            <a:chOff x="0" y="0"/>
            <a:chExt cx="6239028" cy="63500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239028" cy="6350000"/>
            </a:xfrm>
            <a:custGeom>
              <a:avLst/>
              <a:gdLst/>
              <a:ahLst/>
              <a:cxnLst/>
              <a:rect l="l" t="t" r="r" b="b"/>
              <a:pathLst>
                <a:path w="6239028" h="6350000">
                  <a:moveTo>
                    <a:pt x="3119514" y="0"/>
                  </a:moveTo>
                  <a:cubicBezTo>
                    <a:pt x="1396654" y="0"/>
                    <a:pt x="0" y="1421496"/>
                    <a:pt x="0" y="3175000"/>
                  </a:cubicBezTo>
                  <a:cubicBezTo>
                    <a:pt x="0" y="4928504"/>
                    <a:pt x="1396654" y="6350000"/>
                    <a:pt x="3119514" y="6350000"/>
                  </a:cubicBezTo>
                  <a:cubicBezTo>
                    <a:pt x="4842374" y="6350000"/>
                    <a:pt x="6239028" y="4928504"/>
                    <a:pt x="6239028" y="3175000"/>
                  </a:cubicBezTo>
                  <a:cubicBezTo>
                    <a:pt x="6239028" y="1421496"/>
                    <a:pt x="4842374" y="0"/>
                    <a:pt x="3119514" y="0"/>
                  </a:cubicBezTo>
                  <a:close/>
                </a:path>
              </a:pathLst>
            </a:custGeom>
            <a:solidFill>
              <a:srgbClr val="117CC2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5460935" y="7718314"/>
            <a:ext cx="646182" cy="657675"/>
            <a:chOff x="0" y="0"/>
            <a:chExt cx="6239028" cy="63500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6239028" cy="6350000"/>
            </a:xfrm>
            <a:custGeom>
              <a:avLst/>
              <a:gdLst/>
              <a:ahLst/>
              <a:cxnLst/>
              <a:rect l="l" t="t" r="r" b="b"/>
              <a:pathLst>
                <a:path w="6239028" h="6350000">
                  <a:moveTo>
                    <a:pt x="3119514" y="0"/>
                  </a:moveTo>
                  <a:cubicBezTo>
                    <a:pt x="1396654" y="0"/>
                    <a:pt x="0" y="1421496"/>
                    <a:pt x="0" y="3175000"/>
                  </a:cubicBezTo>
                  <a:cubicBezTo>
                    <a:pt x="0" y="4928504"/>
                    <a:pt x="1396654" y="6350000"/>
                    <a:pt x="3119514" y="6350000"/>
                  </a:cubicBezTo>
                  <a:cubicBezTo>
                    <a:pt x="4842374" y="6350000"/>
                    <a:pt x="6239028" y="4928504"/>
                    <a:pt x="6239028" y="3175000"/>
                  </a:cubicBezTo>
                  <a:cubicBezTo>
                    <a:pt x="6239028" y="1421496"/>
                    <a:pt x="4842374" y="0"/>
                    <a:pt x="3119514" y="0"/>
                  </a:cubicBezTo>
                  <a:close/>
                </a:path>
              </a:pathLst>
            </a:custGeom>
            <a:solidFill>
              <a:srgbClr val="117CC2"/>
            </a:solidFill>
          </p:spPr>
        </p:sp>
      </p:grpSp>
      <p:sp>
        <p:nvSpPr>
          <p:cNvPr id="41" name="TextBox 41"/>
          <p:cNvSpPr txBox="1"/>
          <p:nvPr/>
        </p:nvSpPr>
        <p:spPr>
          <a:xfrm>
            <a:off x="6697750" y="5892379"/>
            <a:ext cx="6129315" cy="743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524"/>
              </a:lnSpc>
              <a:spcBef>
                <a:spcPct val="0"/>
              </a:spcBef>
            </a:pPr>
            <a:r>
              <a:rPr lang="en-US" sz="326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Riesgos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697750" y="6721994"/>
            <a:ext cx="6129315" cy="743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524"/>
              </a:lnSpc>
              <a:spcBef>
                <a:spcPct val="0"/>
              </a:spcBef>
            </a:pPr>
            <a:r>
              <a:rPr lang="en-US" sz="326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Seguridad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697750" y="7551609"/>
            <a:ext cx="6129315" cy="743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524"/>
              </a:lnSpc>
              <a:spcBef>
                <a:spcPct val="0"/>
              </a:spcBef>
            </a:pPr>
            <a:r>
              <a:rPr lang="en-US" sz="326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Modelo de negocio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555848" y="6897144"/>
            <a:ext cx="456355" cy="526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319"/>
              </a:lnSpc>
              <a:spcBef>
                <a:spcPct val="0"/>
              </a:spcBef>
            </a:pPr>
            <a:r>
              <a:rPr lang="en-US" sz="2751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9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555848" y="7726759"/>
            <a:ext cx="456355" cy="526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319"/>
              </a:lnSpc>
              <a:spcBef>
                <a:spcPct val="0"/>
              </a:spcBef>
            </a:pPr>
            <a:r>
              <a:rPr lang="en-US" sz="2751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10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5460935" y="8547929"/>
            <a:ext cx="646182" cy="657675"/>
            <a:chOff x="0" y="0"/>
            <a:chExt cx="6239028" cy="63500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239028" cy="6350000"/>
            </a:xfrm>
            <a:custGeom>
              <a:avLst/>
              <a:gdLst/>
              <a:ahLst/>
              <a:cxnLst/>
              <a:rect l="l" t="t" r="r" b="b"/>
              <a:pathLst>
                <a:path w="6239028" h="6350000">
                  <a:moveTo>
                    <a:pt x="3119514" y="0"/>
                  </a:moveTo>
                  <a:cubicBezTo>
                    <a:pt x="1396654" y="0"/>
                    <a:pt x="0" y="1421496"/>
                    <a:pt x="0" y="3175000"/>
                  </a:cubicBezTo>
                  <a:cubicBezTo>
                    <a:pt x="0" y="4928504"/>
                    <a:pt x="1396654" y="6350000"/>
                    <a:pt x="3119514" y="6350000"/>
                  </a:cubicBezTo>
                  <a:cubicBezTo>
                    <a:pt x="4842374" y="6350000"/>
                    <a:pt x="6239028" y="4928504"/>
                    <a:pt x="6239028" y="3175000"/>
                  </a:cubicBezTo>
                  <a:cubicBezTo>
                    <a:pt x="6239028" y="1421496"/>
                    <a:pt x="4842374" y="0"/>
                    <a:pt x="3119514" y="0"/>
                  </a:cubicBezTo>
                  <a:close/>
                </a:path>
              </a:pathLst>
            </a:custGeom>
            <a:solidFill>
              <a:srgbClr val="117CC2"/>
            </a:solidFill>
          </p:spPr>
        </p:sp>
      </p:grpSp>
      <p:sp>
        <p:nvSpPr>
          <p:cNvPr id="48" name="TextBox 48"/>
          <p:cNvSpPr txBox="1"/>
          <p:nvPr/>
        </p:nvSpPr>
        <p:spPr>
          <a:xfrm>
            <a:off x="6697750" y="8381223"/>
            <a:ext cx="6129315" cy="743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524"/>
              </a:lnSpc>
              <a:spcBef>
                <a:spcPct val="0"/>
              </a:spcBef>
            </a:pPr>
            <a:r>
              <a:rPr lang="en-US" sz="326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Mockups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555848" y="8556374"/>
            <a:ext cx="456355" cy="526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319"/>
              </a:lnSpc>
              <a:spcBef>
                <a:spcPct val="0"/>
              </a:spcBef>
            </a:pPr>
            <a:r>
              <a:rPr lang="en-US" sz="2751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11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5460935" y="9377543"/>
            <a:ext cx="646182" cy="657675"/>
            <a:chOff x="0" y="0"/>
            <a:chExt cx="6239028" cy="63500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6239028" cy="6350000"/>
            </a:xfrm>
            <a:custGeom>
              <a:avLst/>
              <a:gdLst/>
              <a:ahLst/>
              <a:cxnLst/>
              <a:rect l="l" t="t" r="r" b="b"/>
              <a:pathLst>
                <a:path w="6239028" h="6350000">
                  <a:moveTo>
                    <a:pt x="3119514" y="0"/>
                  </a:moveTo>
                  <a:cubicBezTo>
                    <a:pt x="1396654" y="0"/>
                    <a:pt x="0" y="1421496"/>
                    <a:pt x="0" y="3175000"/>
                  </a:cubicBezTo>
                  <a:cubicBezTo>
                    <a:pt x="0" y="4928504"/>
                    <a:pt x="1396654" y="6350000"/>
                    <a:pt x="3119514" y="6350000"/>
                  </a:cubicBezTo>
                  <a:cubicBezTo>
                    <a:pt x="4842374" y="6350000"/>
                    <a:pt x="6239028" y="4928504"/>
                    <a:pt x="6239028" y="3175000"/>
                  </a:cubicBezTo>
                  <a:cubicBezTo>
                    <a:pt x="6239028" y="1421496"/>
                    <a:pt x="4842374" y="0"/>
                    <a:pt x="3119514" y="0"/>
                  </a:cubicBezTo>
                  <a:close/>
                </a:path>
              </a:pathLst>
            </a:custGeom>
            <a:solidFill>
              <a:srgbClr val="117CC2"/>
            </a:solidFill>
          </p:spPr>
        </p:sp>
      </p:grpSp>
      <p:sp>
        <p:nvSpPr>
          <p:cNvPr id="52" name="TextBox 52"/>
          <p:cNvSpPr txBox="1"/>
          <p:nvPr/>
        </p:nvSpPr>
        <p:spPr>
          <a:xfrm>
            <a:off x="6697750" y="9210838"/>
            <a:ext cx="6129315" cy="743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6524"/>
              </a:lnSpc>
              <a:spcBef>
                <a:spcPct val="0"/>
              </a:spcBef>
            </a:pPr>
            <a:r>
              <a:rPr lang="en-US" sz="3262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Conclusiones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555848" y="9385988"/>
            <a:ext cx="456355" cy="526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319"/>
              </a:lnSpc>
              <a:spcBef>
                <a:spcPct val="0"/>
              </a:spcBef>
            </a:pPr>
            <a:r>
              <a:rPr lang="en-US" sz="2751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4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27026" y="23540"/>
            <a:ext cx="7660974" cy="10287000"/>
            <a:chOff x="0" y="0"/>
            <a:chExt cx="10214633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32778" r="32778"/>
            <a:stretch>
              <a:fillRect/>
            </a:stretch>
          </p:blipFill>
          <p:spPr>
            <a:xfrm>
              <a:off x="0" y="0"/>
              <a:ext cx="10214633" cy="13716000"/>
            </a:xfrm>
            <a:prstGeom prst="rect">
              <a:avLst/>
            </a:prstGeom>
          </p:spPr>
        </p:pic>
      </p:grpSp>
      <p:sp>
        <p:nvSpPr>
          <p:cNvPr id="4" name="Freeform 4"/>
          <p:cNvSpPr/>
          <p:nvPr/>
        </p:nvSpPr>
        <p:spPr>
          <a:xfrm rot="-10800000">
            <a:off x="-372054" y="523145"/>
            <a:ext cx="4527362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2" y="0"/>
                </a:lnTo>
                <a:lnTo>
                  <a:pt x="4527362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537151" y="5743984"/>
            <a:ext cx="6445736" cy="5870991"/>
          </a:xfrm>
          <a:custGeom>
            <a:avLst/>
            <a:gdLst/>
            <a:ahLst/>
            <a:cxnLst/>
            <a:rect l="l" t="t" r="r" b="b"/>
            <a:pathLst>
              <a:path w="6445736" h="5870991">
                <a:moveTo>
                  <a:pt x="0" y="0"/>
                </a:moveTo>
                <a:lnTo>
                  <a:pt x="6445735" y="0"/>
                </a:lnTo>
                <a:lnTo>
                  <a:pt x="6445735" y="5870990"/>
                </a:lnTo>
                <a:lnTo>
                  <a:pt x="0" y="587099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668171" y="4452899"/>
            <a:ext cx="9363953" cy="2505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7"/>
              </a:lnSpc>
            </a:pPr>
            <a:r>
              <a:rPr lang="en-US" sz="2665" dirty="0" err="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Vindex</a:t>
            </a:r>
            <a:r>
              <a:rPr lang="en-US" sz="2665" dirty="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665" dirty="0" err="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aborda</a:t>
            </a:r>
            <a:r>
              <a:rPr lang="en-US" sz="2665" dirty="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el </a:t>
            </a:r>
            <a:r>
              <a:rPr lang="en-US" sz="2665" dirty="0" err="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vacío</a:t>
            </a:r>
            <a:r>
              <a:rPr lang="en-US" sz="2665" dirty="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665" dirty="0" err="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tecnológico</a:t>
            </a:r>
            <a:r>
              <a:rPr lang="en-US" sz="2665" dirty="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la crisis de </a:t>
            </a:r>
            <a:r>
              <a:rPr lang="en-US" sz="2665" dirty="0" err="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inseguridad</a:t>
            </a:r>
            <a:r>
              <a:rPr lang="en-US" sz="2665" dirty="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del </a:t>
            </a:r>
            <a:r>
              <a:rPr lang="en-US" sz="2665" dirty="0" err="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comercio</a:t>
            </a:r>
            <a:r>
              <a:rPr lang="en-US" sz="2665" dirty="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informal </a:t>
            </a:r>
            <a:r>
              <a:rPr lang="en-US" sz="2665" dirty="0" err="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2665" dirty="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Chile </a:t>
            </a:r>
            <a:r>
              <a:rPr lang="en-US" sz="2665" dirty="0" err="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mediante</a:t>
            </a:r>
            <a:r>
              <a:rPr lang="en-US" sz="2665" dirty="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665" dirty="0" err="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una</a:t>
            </a:r>
            <a:r>
              <a:rPr lang="en-US" sz="2665" dirty="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665" dirty="0" err="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plataforma</a:t>
            </a:r>
            <a:r>
              <a:rPr lang="en-US" sz="2665" dirty="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665" dirty="0" err="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que</a:t>
            </a:r>
            <a:r>
              <a:rPr lang="en-US" sz="2665" dirty="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665" dirty="0" err="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unifica</a:t>
            </a:r>
            <a:r>
              <a:rPr lang="en-US" sz="2665" dirty="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tiendas </a:t>
            </a:r>
            <a:r>
              <a:rPr lang="en-US" sz="2665" dirty="0" err="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personalizadas</a:t>
            </a:r>
            <a:r>
              <a:rPr lang="en-US" sz="2665" dirty="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y </a:t>
            </a:r>
            <a:r>
              <a:rPr lang="en-US" sz="2665" dirty="0" err="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subastas</a:t>
            </a:r>
            <a:r>
              <a:rPr lang="en-US" sz="2665" dirty="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665" dirty="0" err="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</a:t>
            </a:r>
            <a:r>
              <a:rPr lang="en-US" sz="2665" dirty="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</a:t>
            </a:r>
            <a:r>
              <a:rPr lang="en-US" sz="2665" dirty="0" err="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tiempo</a:t>
            </a:r>
            <a:r>
              <a:rPr lang="en-US" sz="2665" dirty="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real.</a:t>
            </a:r>
          </a:p>
          <a:p>
            <a:pPr marL="0" lvl="0" indent="0" algn="l">
              <a:lnSpc>
                <a:spcPts val="3997"/>
              </a:lnSpc>
              <a:spcBef>
                <a:spcPct val="0"/>
              </a:spcBef>
            </a:pPr>
            <a:endParaRPr lang="en-US" sz="2665" dirty="0">
              <a:solidFill>
                <a:srgbClr val="FFFFFF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68171" y="2095723"/>
            <a:ext cx="8007720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Introducción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4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3537446" y="-158657"/>
            <a:ext cx="4913194" cy="4114800"/>
          </a:xfrm>
          <a:custGeom>
            <a:avLst/>
            <a:gdLst/>
            <a:ahLst/>
            <a:cxnLst/>
            <a:rect l="l" t="t" r="r" b="b"/>
            <a:pathLst>
              <a:path w="4913194" h="4114800">
                <a:moveTo>
                  <a:pt x="4913194" y="0"/>
                </a:moveTo>
                <a:lnTo>
                  <a:pt x="0" y="0"/>
                </a:lnTo>
                <a:lnTo>
                  <a:pt x="0" y="4114800"/>
                </a:lnTo>
                <a:lnTo>
                  <a:pt x="4913194" y="4114800"/>
                </a:lnTo>
                <a:lnTo>
                  <a:pt x="491319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101557" y="409575"/>
            <a:ext cx="14084886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Contexto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849854" y="2732240"/>
            <a:ext cx="15159939" cy="5198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Los marketplaces consolidados están diseñados para comercio masivo tradicional o productos estandarizados, dejando de lado la venta de piezas únicas, coleccionables, creaciones independientes y artículos de alto valor que requieren mecanismos de puja.</a:t>
            </a:r>
          </a:p>
          <a:p>
            <a:pPr algn="l">
              <a:lnSpc>
                <a:spcPts val="4199"/>
              </a:lnSpc>
            </a:pPr>
            <a:endParaRPr lang="en-US" sz="2799">
              <a:solidFill>
                <a:srgbClr val="FFFFFF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  <a:p>
            <a:pPr marL="604519" lvl="1" indent="-302260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Las plataformas internacionales especializadas en subastas o creadores independientes aplican comisiones elevadas, cobros por publicación y enfrentan barreras asociadas a divisas extranjeras, logística local y medios de pago no adaptados a Chile.</a:t>
            </a:r>
          </a:p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endParaRPr lang="en-US" sz="2799">
              <a:solidFill>
                <a:srgbClr val="FFFFFF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</p:txBody>
      </p:sp>
      <p:sp>
        <p:nvSpPr>
          <p:cNvPr id="5" name="Freeform 5"/>
          <p:cNvSpPr/>
          <p:nvPr/>
        </p:nvSpPr>
        <p:spPr>
          <a:xfrm rot="5400000">
            <a:off x="452776" y="6484537"/>
            <a:ext cx="2794156" cy="5846533"/>
          </a:xfrm>
          <a:custGeom>
            <a:avLst/>
            <a:gdLst/>
            <a:ahLst/>
            <a:cxnLst/>
            <a:rect l="l" t="t" r="r" b="b"/>
            <a:pathLst>
              <a:path w="2794156" h="5846533">
                <a:moveTo>
                  <a:pt x="0" y="0"/>
                </a:moveTo>
                <a:lnTo>
                  <a:pt x="2794156" y="0"/>
                </a:lnTo>
                <a:lnTo>
                  <a:pt x="2794156" y="5846534"/>
                </a:lnTo>
                <a:lnTo>
                  <a:pt x="0" y="58465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14746112" y="8752745"/>
            <a:ext cx="4527362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1" y="0"/>
                </a:lnTo>
                <a:lnTo>
                  <a:pt x="4527361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5400000">
            <a:off x="-1595510" y="1393187"/>
            <a:ext cx="4527362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2" y="0"/>
                </a:lnTo>
                <a:lnTo>
                  <a:pt x="4527362" y="1011111"/>
                </a:lnTo>
                <a:lnTo>
                  <a:pt x="0" y="1011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4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4746112" y="-747159"/>
            <a:ext cx="4913194" cy="4114800"/>
          </a:xfrm>
          <a:custGeom>
            <a:avLst/>
            <a:gdLst/>
            <a:ahLst/>
            <a:cxnLst/>
            <a:rect l="l" t="t" r="r" b="b"/>
            <a:pathLst>
              <a:path w="4913194" h="4114800">
                <a:moveTo>
                  <a:pt x="4913194" y="0"/>
                </a:moveTo>
                <a:lnTo>
                  <a:pt x="0" y="0"/>
                </a:lnTo>
                <a:lnTo>
                  <a:pt x="0" y="4114800"/>
                </a:lnTo>
                <a:lnTo>
                  <a:pt x="4913194" y="4114800"/>
                </a:lnTo>
                <a:lnTo>
                  <a:pt x="4913194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564031" y="691116"/>
            <a:ext cx="14084886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Problematica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64031" y="2701549"/>
            <a:ext cx="15159939" cy="6770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El mercado chileno carece de un marketplace seguro e integral diseñado específicamente para transacciones entre particulares. Esta falta de plataformas confiables obliga a vendedores y compradores a operar en la informalidad de las redes sociales tradicionales, donde transan sin verificación de identidad, pasarelas de pago protegidas ni ningún tipo de respaldo legal.</a:t>
            </a:r>
          </a:p>
          <a:p>
            <a:pPr algn="l">
              <a:lnSpc>
                <a:spcPts val="4199"/>
              </a:lnSpc>
            </a:pPr>
            <a:endParaRPr lang="en-US" sz="2799">
              <a:solidFill>
                <a:srgbClr val="FFFFFF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  <a:p>
            <a:pPr algn="l">
              <a:lnSpc>
                <a:spcPts val="4199"/>
              </a:lnSpc>
            </a:pPr>
            <a:r>
              <a:rPr lang="en-US" sz="279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Como consecuencia directa, los usuarios quedan cotidianamente expuestos a fraudes y riesgos de seguridad. La magnitud de esta vulnerabilidad es confirmada por la PDI, que advierte que el 58% de las estafas denunciadas en el país se cometen por internet, convirtiendo al comercio informal en estas redes en el principal foco de criminalidad económica actual.</a:t>
            </a:r>
          </a:p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endParaRPr lang="en-US" sz="2799">
              <a:solidFill>
                <a:srgbClr val="FFFFFF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  <a:p>
            <a:pPr marL="0" lvl="0" indent="0" algn="l">
              <a:lnSpc>
                <a:spcPts val="4199"/>
              </a:lnSpc>
              <a:spcBef>
                <a:spcPct val="0"/>
              </a:spcBef>
            </a:pPr>
            <a:endParaRPr lang="en-US" sz="2799">
              <a:solidFill>
                <a:srgbClr val="FFFFFF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</p:txBody>
      </p:sp>
      <p:sp>
        <p:nvSpPr>
          <p:cNvPr id="5" name="Freeform 5"/>
          <p:cNvSpPr/>
          <p:nvPr/>
        </p:nvSpPr>
        <p:spPr>
          <a:xfrm rot="5400000">
            <a:off x="166953" y="6840589"/>
            <a:ext cx="2794156" cy="5846533"/>
          </a:xfrm>
          <a:custGeom>
            <a:avLst/>
            <a:gdLst/>
            <a:ahLst/>
            <a:cxnLst/>
            <a:rect l="l" t="t" r="r" b="b"/>
            <a:pathLst>
              <a:path w="2794156" h="5846533">
                <a:moveTo>
                  <a:pt x="0" y="0"/>
                </a:moveTo>
                <a:lnTo>
                  <a:pt x="2794156" y="0"/>
                </a:lnTo>
                <a:lnTo>
                  <a:pt x="2794156" y="5846533"/>
                </a:lnTo>
                <a:lnTo>
                  <a:pt x="0" y="58465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14746112" y="8752745"/>
            <a:ext cx="4527362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1" y="0"/>
                </a:lnTo>
                <a:lnTo>
                  <a:pt x="4527361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5400000">
            <a:off x="-1595510" y="1393187"/>
            <a:ext cx="4527362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2" y="0"/>
                </a:lnTo>
                <a:lnTo>
                  <a:pt x="4527362" y="1011111"/>
                </a:lnTo>
                <a:lnTo>
                  <a:pt x="0" y="1011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4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61963" y="-4090713"/>
            <a:ext cx="4363296" cy="5966900"/>
          </a:xfrm>
          <a:custGeom>
            <a:avLst/>
            <a:gdLst/>
            <a:ahLst/>
            <a:cxnLst/>
            <a:rect l="l" t="t" r="r" b="b"/>
            <a:pathLst>
              <a:path w="4363296" h="5966900">
                <a:moveTo>
                  <a:pt x="0" y="0"/>
                </a:moveTo>
                <a:lnTo>
                  <a:pt x="4363296" y="0"/>
                </a:lnTo>
                <a:lnTo>
                  <a:pt x="4363296" y="5966901"/>
                </a:lnTo>
                <a:lnTo>
                  <a:pt x="0" y="59669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452022" y="8988079"/>
            <a:ext cx="4527362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2" y="0"/>
                </a:lnTo>
                <a:lnTo>
                  <a:pt x="4527362" y="1011111"/>
                </a:lnTo>
                <a:lnTo>
                  <a:pt x="0" y="1011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13991563" y="523145"/>
            <a:ext cx="4527362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2" y="0"/>
                </a:lnTo>
                <a:lnTo>
                  <a:pt x="4527362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368702" y="2479131"/>
            <a:ext cx="7048431" cy="2440544"/>
            <a:chOff x="0" y="0"/>
            <a:chExt cx="1856377" cy="64277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56377" cy="642777"/>
            </a:xfrm>
            <a:custGeom>
              <a:avLst/>
              <a:gdLst/>
              <a:ahLst/>
              <a:cxnLst/>
              <a:rect l="l" t="t" r="r" b="b"/>
              <a:pathLst>
                <a:path w="1856377" h="642777">
                  <a:moveTo>
                    <a:pt x="56018" y="0"/>
                  </a:moveTo>
                  <a:lnTo>
                    <a:pt x="1800359" y="0"/>
                  </a:lnTo>
                  <a:cubicBezTo>
                    <a:pt x="1815216" y="0"/>
                    <a:pt x="1829464" y="5902"/>
                    <a:pt x="1839970" y="16407"/>
                  </a:cubicBezTo>
                  <a:cubicBezTo>
                    <a:pt x="1850475" y="26913"/>
                    <a:pt x="1856377" y="41161"/>
                    <a:pt x="1856377" y="56018"/>
                  </a:cubicBezTo>
                  <a:lnTo>
                    <a:pt x="1856377" y="586759"/>
                  </a:lnTo>
                  <a:cubicBezTo>
                    <a:pt x="1856377" y="601616"/>
                    <a:pt x="1850475" y="615864"/>
                    <a:pt x="1839970" y="626370"/>
                  </a:cubicBezTo>
                  <a:cubicBezTo>
                    <a:pt x="1829464" y="636875"/>
                    <a:pt x="1815216" y="642777"/>
                    <a:pt x="1800359" y="642777"/>
                  </a:cubicBezTo>
                  <a:lnTo>
                    <a:pt x="56018" y="642777"/>
                  </a:lnTo>
                  <a:cubicBezTo>
                    <a:pt x="41161" y="642777"/>
                    <a:pt x="26913" y="636875"/>
                    <a:pt x="16407" y="626370"/>
                  </a:cubicBezTo>
                  <a:cubicBezTo>
                    <a:pt x="5902" y="615864"/>
                    <a:pt x="0" y="601616"/>
                    <a:pt x="0" y="586759"/>
                  </a:cubicBezTo>
                  <a:lnTo>
                    <a:pt x="0" y="56018"/>
                  </a:lnTo>
                  <a:cubicBezTo>
                    <a:pt x="0" y="41161"/>
                    <a:pt x="5902" y="26913"/>
                    <a:pt x="16407" y="16407"/>
                  </a:cubicBezTo>
                  <a:cubicBezTo>
                    <a:pt x="26913" y="5902"/>
                    <a:pt x="41161" y="0"/>
                    <a:pt x="56018" y="0"/>
                  </a:cubicBezTo>
                  <a:close/>
                </a:path>
              </a:pathLst>
            </a:custGeom>
            <a:solidFill>
              <a:srgbClr val="0E86D4">
                <a:alpha val="7451"/>
              </a:srgbClr>
            </a:solidFill>
            <a:ln w="38100" cap="rnd">
              <a:solidFill>
                <a:srgbClr val="FFFFFF"/>
              </a:solidFill>
              <a:prstDash val="lgDash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1856377" cy="7094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7"/>
                </a:lnSpc>
              </a:pPr>
              <a:r>
                <a:rPr lang="en-US" sz="2451" b="1">
                  <a:solidFill>
                    <a:srgbClr val="FFFFFF"/>
                  </a:solidFill>
                  <a:latin typeface="Montaser Arabic Bold"/>
                  <a:ea typeface="Montaser Arabic Bold"/>
                  <a:cs typeface="Montaser Arabic Bold"/>
                  <a:sym typeface="Montaser Arabic Bold"/>
                </a:rPr>
                <a:t>Tiendas de Usuario</a:t>
              </a:r>
            </a:p>
            <a:p>
              <a:pPr algn="ctr">
                <a:lnSpc>
                  <a:spcPts val="3677"/>
                </a:lnSpc>
              </a:pPr>
              <a:r>
                <a:rPr lang="en-US" sz="2451">
                  <a:solidFill>
                    <a:srgbClr val="FFFFFF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Cada vendedor dispone de su propio perfil y catálogo con gestión de inventario.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75685" y="5403941"/>
            <a:ext cx="7041448" cy="2740881"/>
            <a:chOff x="0" y="0"/>
            <a:chExt cx="1854538" cy="72187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54538" cy="721878"/>
            </a:xfrm>
            <a:custGeom>
              <a:avLst/>
              <a:gdLst/>
              <a:ahLst/>
              <a:cxnLst/>
              <a:rect l="l" t="t" r="r" b="b"/>
              <a:pathLst>
                <a:path w="1854538" h="721878">
                  <a:moveTo>
                    <a:pt x="56073" y="0"/>
                  </a:moveTo>
                  <a:lnTo>
                    <a:pt x="1798464" y="0"/>
                  </a:lnTo>
                  <a:cubicBezTo>
                    <a:pt x="1829433" y="0"/>
                    <a:pt x="1854538" y="25105"/>
                    <a:pt x="1854538" y="56073"/>
                  </a:cubicBezTo>
                  <a:lnTo>
                    <a:pt x="1854538" y="665805"/>
                  </a:lnTo>
                  <a:cubicBezTo>
                    <a:pt x="1854538" y="696773"/>
                    <a:pt x="1829433" y="721878"/>
                    <a:pt x="1798464" y="721878"/>
                  </a:cubicBezTo>
                  <a:lnTo>
                    <a:pt x="56073" y="721878"/>
                  </a:lnTo>
                  <a:cubicBezTo>
                    <a:pt x="25105" y="721878"/>
                    <a:pt x="0" y="696773"/>
                    <a:pt x="0" y="665805"/>
                  </a:cubicBezTo>
                  <a:lnTo>
                    <a:pt x="0" y="56073"/>
                  </a:lnTo>
                  <a:cubicBezTo>
                    <a:pt x="0" y="25105"/>
                    <a:pt x="25105" y="0"/>
                    <a:pt x="56073" y="0"/>
                  </a:cubicBezTo>
                  <a:close/>
                </a:path>
              </a:pathLst>
            </a:custGeom>
            <a:solidFill>
              <a:srgbClr val="0E86D4">
                <a:alpha val="7451"/>
              </a:srgbClr>
            </a:solidFill>
            <a:ln w="38100" cap="rnd">
              <a:solidFill>
                <a:srgbClr val="FFFFFF"/>
              </a:solidFill>
              <a:prstDash val="lgDash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854538" cy="7885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7"/>
                </a:lnSpc>
              </a:pPr>
              <a:r>
                <a:rPr lang="en-US" sz="2451" b="1">
                  <a:solidFill>
                    <a:srgbClr val="FFFFFF"/>
                  </a:solidFill>
                  <a:latin typeface="Montaser Arabic Bold"/>
                  <a:ea typeface="Montaser Arabic Bold"/>
                  <a:cs typeface="Montaser Arabic Bold"/>
                  <a:sym typeface="Montaser Arabic Bold"/>
                </a:rPr>
                <a:t>Subastas en Vivo </a:t>
              </a:r>
            </a:p>
            <a:p>
              <a:pPr algn="ctr">
                <a:lnSpc>
                  <a:spcPts val="3677"/>
                </a:lnSpc>
              </a:pPr>
              <a:r>
                <a:rPr lang="en-US" sz="2451">
                  <a:solidFill>
                    <a:srgbClr val="FFFFFF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Módulo con sincronización instantánea de pujas, temporizadores dinámicos y actualización en tiempo real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630333" y="5134840"/>
            <a:ext cx="7268735" cy="2189304"/>
            <a:chOff x="0" y="0"/>
            <a:chExt cx="1914399" cy="57660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14399" cy="576607"/>
            </a:xfrm>
            <a:custGeom>
              <a:avLst/>
              <a:gdLst/>
              <a:ahLst/>
              <a:cxnLst/>
              <a:rect l="l" t="t" r="r" b="b"/>
              <a:pathLst>
                <a:path w="1914399" h="576607">
                  <a:moveTo>
                    <a:pt x="54320" y="0"/>
                  </a:moveTo>
                  <a:lnTo>
                    <a:pt x="1860079" y="0"/>
                  </a:lnTo>
                  <a:cubicBezTo>
                    <a:pt x="1874486" y="0"/>
                    <a:pt x="1888302" y="5723"/>
                    <a:pt x="1898489" y="15910"/>
                  </a:cubicBezTo>
                  <a:cubicBezTo>
                    <a:pt x="1908676" y="26097"/>
                    <a:pt x="1914399" y="39913"/>
                    <a:pt x="1914399" y="54320"/>
                  </a:cubicBezTo>
                  <a:lnTo>
                    <a:pt x="1914399" y="522287"/>
                  </a:lnTo>
                  <a:cubicBezTo>
                    <a:pt x="1914399" y="552287"/>
                    <a:pt x="1890079" y="576607"/>
                    <a:pt x="1860079" y="576607"/>
                  </a:cubicBezTo>
                  <a:lnTo>
                    <a:pt x="54320" y="576607"/>
                  </a:lnTo>
                  <a:cubicBezTo>
                    <a:pt x="24320" y="576607"/>
                    <a:pt x="0" y="552287"/>
                    <a:pt x="0" y="522287"/>
                  </a:cubicBezTo>
                  <a:lnTo>
                    <a:pt x="0" y="54320"/>
                  </a:lnTo>
                  <a:cubicBezTo>
                    <a:pt x="0" y="24320"/>
                    <a:pt x="24320" y="0"/>
                    <a:pt x="54320" y="0"/>
                  </a:cubicBezTo>
                  <a:close/>
                </a:path>
              </a:pathLst>
            </a:custGeom>
            <a:solidFill>
              <a:srgbClr val="0E86D4">
                <a:alpha val="7451"/>
              </a:srgbClr>
            </a:solidFill>
            <a:ln w="38100" cap="rnd">
              <a:solidFill>
                <a:srgbClr val="FFFFFF"/>
              </a:solidFill>
              <a:prstDash val="lgDash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1914399" cy="6432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7"/>
                </a:lnSpc>
              </a:pPr>
              <a:r>
                <a:rPr lang="en-US" sz="2451" b="1">
                  <a:solidFill>
                    <a:srgbClr val="FFFFFF"/>
                  </a:solidFill>
                  <a:latin typeface="Montaser Arabic Bold"/>
                  <a:ea typeface="Montaser Arabic Bold"/>
                  <a:cs typeface="Montaser Arabic Bold"/>
                  <a:sym typeface="Montaser Arabic Bold"/>
                </a:rPr>
                <a:t>Logistica y Comisiones</a:t>
              </a:r>
            </a:p>
            <a:p>
              <a:pPr algn="ctr">
                <a:lnSpc>
                  <a:spcPts val="3677"/>
                </a:lnSpc>
              </a:pPr>
              <a:r>
                <a:rPr lang="en-US" sz="2451">
                  <a:solidFill>
                    <a:srgbClr val="FFFFFF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Diferenciación entre envíos express y normales, junto con una tasa de comisión competitiva y transparente.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630333" y="7790869"/>
            <a:ext cx="7268735" cy="2208321"/>
            <a:chOff x="0" y="0"/>
            <a:chExt cx="1914399" cy="58161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14399" cy="581615"/>
            </a:xfrm>
            <a:custGeom>
              <a:avLst/>
              <a:gdLst/>
              <a:ahLst/>
              <a:cxnLst/>
              <a:rect l="l" t="t" r="r" b="b"/>
              <a:pathLst>
                <a:path w="1914399" h="581615">
                  <a:moveTo>
                    <a:pt x="54320" y="0"/>
                  </a:moveTo>
                  <a:lnTo>
                    <a:pt x="1860079" y="0"/>
                  </a:lnTo>
                  <a:cubicBezTo>
                    <a:pt x="1874486" y="0"/>
                    <a:pt x="1888302" y="5723"/>
                    <a:pt x="1898489" y="15910"/>
                  </a:cubicBezTo>
                  <a:cubicBezTo>
                    <a:pt x="1908676" y="26097"/>
                    <a:pt x="1914399" y="39913"/>
                    <a:pt x="1914399" y="54320"/>
                  </a:cubicBezTo>
                  <a:lnTo>
                    <a:pt x="1914399" y="527295"/>
                  </a:lnTo>
                  <a:cubicBezTo>
                    <a:pt x="1914399" y="557295"/>
                    <a:pt x="1890079" y="581615"/>
                    <a:pt x="1860079" y="581615"/>
                  </a:cubicBezTo>
                  <a:lnTo>
                    <a:pt x="54320" y="581615"/>
                  </a:lnTo>
                  <a:cubicBezTo>
                    <a:pt x="24320" y="581615"/>
                    <a:pt x="0" y="557295"/>
                    <a:pt x="0" y="527295"/>
                  </a:cubicBezTo>
                  <a:lnTo>
                    <a:pt x="0" y="54320"/>
                  </a:lnTo>
                  <a:cubicBezTo>
                    <a:pt x="0" y="24320"/>
                    <a:pt x="24320" y="0"/>
                    <a:pt x="54320" y="0"/>
                  </a:cubicBezTo>
                  <a:close/>
                </a:path>
              </a:pathLst>
            </a:custGeom>
            <a:solidFill>
              <a:srgbClr val="0E86D4">
                <a:alpha val="7451"/>
              </a:srgbClr>
            </a:solidFill>
            <a:ln w="38100" cap="rnd">
              <a:solidFill>
                <a:srgbClr val="FFFFFF"/>
              </a:solidFill>
              <a:prstDash val="lgDash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1914399" cy="6482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7"/>
                </a:lnSpc>
              </a:pPr>
              <a:r>
                <a:rPr lang="en-US" sz="2451" b="1">
                  <a:solidFill>
                    <a:srgbClr val="FFFFFF"/>
                  </a:solidFill>
                  <a:latin typeface="Montaser Arabic Bold"/>
                  <a:ea typeface="Montaser Arabic Bold"/>
                  <a:cs typeface="Montaser Arabic Bold"/>
                  <a:sym typeface="Montaser Arabic Bold"/>
                </a:rPr>
                <a:t>Confirmación por Código</a:t>
              </a:r>
            </a:p>
            <a:p>
              <a:pPr algn="ctr">
                <a:lnSpc>
                  <a:spcPts val="3677"/>
                </a:lnSpc>
              </a:pPr>
              <a:r>
                <a:rPr lang="en-US" sz="2451">
                  <a:solidFill>
                    <a:srgbClr val="FFFFFF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Validación de entrega mediante un código entregado al comprador, el cual libera el dinero.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630333" y="2479131"/>
            <a:ext cx="7268735" cy="2189304"/>
            <a:chOff x="0" y="0"/>
            <a:chExt cx="1914399" cy="57660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914399" cy="576607"/>
            </a:xfrm>
            <a:custGeom>
              <a:avLst/>
              <a:gdLst/>
              <a:ahLst/>
              <a:cxnLst/>
              <a:rect l="l" t="t" r="r" b="b"/>
              <a:pathLst>
                <a:path w="1914399" h="576607">
                  <a:moveTo>
                    <a:pt x="54320" y="0"/>
                  </a:moveTo>
                  <a:lnTo>
                    <a:pt x="1860079" y="0"/>
                  </a:lnTo>
                  <a:cubicBezTo>
                    <a:pt x="1874486" y="0"/>
                    <a:pt x="1888302" y="5723"/>
                    <a:pt x="1898489" y="15910"/>
                  </a:cubicBezTo>
                  <a:cubicBezTo>
                    <a:pt x="1908676" y="26097"/>
                    <a:pt x="1914399" y="39913"/>
                    <a:pt x="1914399" y="54320"/>
                  </a:cubicBezTo>
                  <a:lnTo>
                    <a:pt x="1914399" y="522287"/>
                  </a:lnTo>
                  <a:cubicBezTo>
                    <a:pt x="1914399" y="552287"/>
                    <a:pt x="1890079" y="576607"/>
                    <a:pt x="1860079" y="576607"/>
                  </a:cubicBezTo>
                  <a:lnTo>
                    <a:pt x="54320" y="576607"/>
                  </a:lnTo>
                  <a:cubicBezTo>
                    <a:pt x="24320" y="576607"/>
                    <a:pt x="0" y="552287"/>
                    <a:pt x="0" y="522287"/>
                  </a:cubicBezTo>
                  <a:lnTo>
                    <a:pt x="0" y="54320"/>
                  </a:lnTo>
                  <a:cubicBezTo>
                    <a:pt x="0" y="24320"/>
                    <a:pt x="24320" y="0"/>
                    <a:pt x="54320" y="0"/>
                  </a:cubicBezTo>
                  <a:close/>
                </a:path>
              </a:pathLst>
            </a:custGeom>
            <a:solidFill>
              <a:srgbClr val="0E86D4">
                <a:alpha val="7451"/>
              </a:srgbClr>
            </a:solidFill>
            <a:ln w="38100" cap="rnd">
              <a:solidFill>
                <a:srgbClr val="FFFFFF"/>
              </a:solidFill>
              <a:prstDash val="lgDash"/>
              <a:round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66675"/>
              <a:ext cx="1914399" cy="6432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77"/>
                </a:lnSpc>
              </a:pPr>
              <a:r>
                <a:rPr lang="en-US" sz="2451" b="1">
                  <a:solidFill>
                    <a:srgbClr val="FFFFFF"/>
                  </a:solidFill>
                  <a:latin typeface="Montaser Arabic Bold"/>
                  <a:ea typeface="Montaser Arabic Bold"/>
                  <a:cs typeface="Montaser Arabic Bold"/>
                  <a:sym typeface="Montaser Arabic Bold"/>
                </a:rPr>
                <a:t>Sistema de custodia</a:t>
              </a:r>
            </a:p>
            <a:p>
              <a:pPr algn="ctr">
                <a:lnSpc>
                  <a:spcPts val="3677"/>
                </a:lnSpc>
              </a:pPr>
              <a:r>
                <a:rPr lang="en-US" sz="2451">
                  <a:solidFill>
                    <a:srgbClr val="FFFFFF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La plataforma retiene los fondos del comprador en una cuenta intermedia hasta que el producto ha sido recibido conforme.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288051" y="221295"/>
            <a:ext cx="5711899" cy="1228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Solución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940281" y="1373895"/>
            <a:ext cx="6407439" cy="10533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277"/>
              </a:lnSpc>
              <a:spcBef>
                <a:spcPct val="0"/>
              </a:spcBef>
            </a:pPr>
            <a:r>
              <a:rPr lang="en-US" sz="2851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Marketplace Web y Aplicación móvil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4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14995619" y="8752745"/>
            <a:ext cx="4527362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2" y="0"/>
                </a:lnTo>
                <a:lnTo>
                  <a:pt x="4527362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-1758126" y="1392555"/>
            <a:ext cx="4527362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2" y="0"/>
                </a:lnTo>
                <a:lnTo>
                  <a:pt x="4527362" y="1011111"/>
                </a:lnTo>
                <a:lnTo>
                  <a:pt x="0" y="1011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14538541" y="-1468692"/>
            <a:ext cx="2280767" cy="5218151"/>
          </a:xfrm>
          <a:custGeom>
            <a:avLst/>
            <a:gdLst/>
            <a:ahLst/>
            <a:cxnLst/>
            <a:rect l="l" t="t" r="r" b="b"/>
            <a:pathLst>
              <a:path w="2280767" h="5218151">
                <a:moveTo>
                  <a:pt x="0" y="0"/>
                </a:moveTo>
                <a:lnTo>
                  <a:pt x="2280767" y="0"/>
                </a:lnTo>
                <a:lnTo>
                  <a:pt x="2280767" y="5218151"/>
                </a:lnTo>
                <a:lnTo>
                  <a:pt x="0" y="52181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V="1">
            <a:off x="-196152" y="7494835"/>
            <a:ext cx="3564095" cy="2984930"/>
          </a:xfrm>
          <a:custGeom>
            <a:avLst/>
            <a:gdLst/>
            <a:ahLst/>
            <a:cxnLst/>
            <a:rect l="l" t="t" r="r" b="b"/>
            <a:pathLst>
              <a:path w="3564095" h="2984930">
                <a:moveTo>
                  <a:pt x="0" y="2984929"/>
                </a:moveTo>
                <a:lnTo>
                  <a:pt x="3564095" y="2984929"/>
                </a:lnTo>
                <a:lnTo>
                  <a:pt x="3564095" y="0"/>
                </a:lnTo>
                <a:lnTo>
                  <a:pt x="0" y="0"/>
                </a:lnTo>
                <a:lnTo>
                  <a:pt x="0" y="298492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471151" y="2534573"/>
            <a:ext cx="1547695" cy="1547695"/>
          </a:xfrm>
          <a:custGeom>
            <a:avLst/>
            <a:gdLst/>
            <a:ahLst/>
            <a:cxnLst/>
            <a:rect l="l" t="t" r="r" b="b"/>
            <a:pathLst>
              <a:path w="1547695" h="1547695">
                <a:moveTo>
                  <a:pt x="0" y="0"/>
                </a:moveTo>
                <a:lnTo>
                  <a:pt x="1547695" y="0"/>
                </a:lnTo>
                <a:lnTo>
                  <a:pt x="1547695" y="1547695"/>
                </a:lnTo>
                <a:lnTo>
                  <a:pt x="0" y="154769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163087" y="2534573"/>
            <a:ext cx="1427873" cy="1406455"/>
          </a:xfrm>
          <a:custGeom>
            <a:avLst/>
            <a:gdLst/>
            <a:ahLst/>
            <a:cxnLst/>
            <a:rect l="l" t="t" r="r" b="b"/>
            <a:pathLst>
              <a:path w="1427873" h="1406455">
                <a:moveTo>
                  <a:pt x="0" y="0"/>
                </a:moveTo>
                <a:lnTo>
                  <a:pt x="1427873" y="0"/>
                </a:lnTo>
                <a:lnTo>
                  <a:pt x="1427873" y="1406455"/>
                </a:lnTo>
                <a:lnTo>
                  <a:pt x="0" y="14064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3895521" y="2534573"/>
            <a:ext cx="1609681" cy="1569439"/>
          </a:xfrm>
          <a:custGeom>
            <a:avLst/>
            <a:gdLst/>
            <a:ahLst/>
            <a:cxnLst/>
            <a:rect l="l" t="t" r="r" b="b"/>
            <a:pathLst>
              <a:path w="1609681" h="1569439">
                <a:moveTo>
                  <a:pt x="0" y="0"/>
                </a:moveTo>
                <a:lnTo>
                  <a:pt x="1609681" y="0"/>
                </a:lnTo>
                <a:lnTo>
                  <a:pt x="1609681" y="1569440"/>
                </a:lnTo>
                <a:lnTo>
                  <a:pt x="0" y="15694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271812" y="4294513"/>
            <a:ext cx="5163209" cy="2916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2200" b="1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M</a:t>
            </a:r>
            <a:r>
              <a:rPr lang="en-US" sz="2200" b="1" u="none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etodología: Ágil (Scrum).</a:t>
            </a:r>
          </a:p>
          <a:p>
            <a:pPr marL="474983" lvl="1" indent="-237491" algn="ctr">
              <a:lnSpc>
                <a:spcPts val="330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u="none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Duración: 16 semanas de desarrollo progresivo.</a:t>
            </a:r>
          </a:p>
          <a:p>
            <a:pPr marL="474983" lvl="1" indent="-237491" algn="ctr">
              <a:lnSpc>
                <a:spcPts val="330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u="none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Aplicacion web con marketplace, subastas, pasarela de pagos y version movil. </a:t>
            </a:r>
          </a:p>
          <a:p>
            <a:pPr marL="0" lvl="0" indent="0" algn="ctr">
              <a:lnSpc>
                <a:spcPts val="3300"/>
              </a:lnSpc>
              <a:spcBef>
                <a:spcPct val="0"/>
              </a:spcBef>
            </a:pPr>
            <a:endParaRPr lang="en-US" sz="2200" u="none">
              <a:solidFill>
                <a:srgbClr val="FFFFFF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811886" y="726535"/>
            <a:ext cx="14077566" cy="117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240"/>
              </a:lnSpc>
              <a:spcBef>
                <a:spcPct val="0"/>
              </a:spcBef>
            </a:pPr>
            <a:r>
              <a:rPr lang="en-US" sz="7700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Metodologia y Roles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77279" y="4435753"/>
            <a:ext cx="4943167" cy="3754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00"/>
              </a:lnSpc>
              <a:spcBef>
                <a:spcPct val="0"/>
              </a:spcBef>
            </a:pPr>
            <a:r>
              <a:rPr lang="en-US" sz="2200" b="1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Té</a:t>
            </a:r>
            <a:r>
              <a:rPr lang="en-US" sz="2200" b="1" u="none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cnica: Planning Poker</a:t>
            </a:r>
          </a:p>
          <a:p>
            <a:pPr marL="474983" lvl="1" indent="-237491" algn="ctr">
              <a:lnSpc>
                <a:spcPts val="330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u="none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Votación a ciegas.</a:t>
            </a:r>
          </a:p>
          <a:p>
            <a:pPr marL="474983" lvl="1" indent="-237491" algn="ctr">
              <a:lnSpc>
                <a:spcPts val="330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u="none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Se evalúa el esfuerzo, riesgo técnico e incertidumbre de cada tarea</a:t>
            </a:r>
          </a:p>
          <a:p>
            <a:pPr marL="474983" lvl="1" indent="-237491" algn="ctr">
              <a:lnSpc>
                <a:spcPts val="330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u="none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Para identificar y dividir los requerimientos más complejos antes de incluirlos en el Sprint.</a:t>
            </a:r>
          </a:p>
          <a:p>
            <a:pPr marL="0" lvl="0" indent="0" algn="ctr">
              <a:lnSpc>
                <a:spcPts val="3300"/>
              </a:lnSpc>
              <a:spcBef>
                <a:spcPct val="0"/>
              </a:spcBef>
            </a:pPr>
            <a:endParaRPr lang="en-US" sz="2200" u="none">
              <a:solidFill>
                <a:srgbClr val="FFFFFF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2173330" y="4586519"/>
            <a:ext cx="5085970" cy="2430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8" lvl="1" indent="-237489" algn="l">
              <a:lnSpc>
                <a:spcPts val="3299"/>
              </a:lnSpc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R</a:t>
            </a:r>
            <a:r>
              <a:rPr lang="en-US" sz="2199" u="none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enato Astargo — Product Owner &amp; Scrum Master </a:t>
            </a:r>
          </a:p>
          <a:p>
            <a:pPr marL="474978" lvl="1" indent="-237489" algn="l">
              <a:lnSpc>
                <a:spcPts val="3299"/>
              </a:lnSpc>
              <a:buFont typeface="Arial"/>
              <a:buChar char="•"/>
            </a:pPr>
            <a:r>
              <a:rPr lang="en-US" sz="2199" u="none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Maximiliano Vargas — Frontend Lead (Web &amp; Mobile) </a:t>
            </a:r>
          </a:p>
          <a:p>
            <a:pPr marL="474978" lvl="1" indent="-237489" algn="l">
              <a:lnSpc>
                <a:spcPts val="3299"/>
              </a:lnSpc>
              <a:buFont typeface="Arial"/>
              <a:buChar char="•"/>
            </a:pPr>
            <a:r>
              <a:rPr lang="en-US" sz="2199" u="none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Bryan Aravena — Backend, Database &amp; QA Lead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4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752327" y="5381439"/>
            <a:ext cx="3727955" cy="5100964"/>
          </a:xfrm>
          <a:custGeom>
            <a:avLst/>
            <a:gdLst/>
            <a:ahLst/>
            <a:cxnLst/>
            <a:rect l="l" t="t" r="r" b="b"/>
            <a:pathLst>
              <a:path w="3727955" h="5100964">
                <a:moveTo>
                  <a:pt x="0" y="0"/>
                </a:moveTo>
                <a:lnTo>
                  <a:pt x="3727955" y="0"/>
                </a:lnTo>
                <a:lnTo>
                  <a:pt x="3727955" y="5100965"/>
                </a:lnTo>
                <a:lnTo>
                  <a:pt x="0" y="51009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33183" y="-194603"/>
            <a:ext cx="3564095" cy="2984930"/>
          </a:xfrm>
          <a:custGeom>
            <a:avLst/>
            <a:gdLst/>
            <a:ahLst/>
            <a:cxnLst/>
            <a:rect l="l" t="t" r="r" b="b"/>
            <a:pathLst>
              <a:path w="3564095" h="2984930">
                <a:moveTo>
                  <a:pt x="0" y="0"/>
                </a:moveTo>
                <a:lnTo>
                  <a:pt x="3564095" y="0"/>
                </a:lnTo>
                <a:lnTo>
                  <a:pt x="3564095" y="2984930"/>
                </a:lnTo>
                <a:lnTo>
                  <a:pt x="0" y="29849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-407077" y="9122096"/>
            <a:ext cx="3911884" cy="873654"/>
          </a:xfrm>
          <a:custGeom>
            <a:avLst/>
            <a:gdLst/>
            <a:ahLst/>
            <a:cxnLst/>
            <a:rect l="l" t="t" r="r" b="b"/>
            <a:pathLst>
              <a:path w="3911884" h="873654">
                <a:moveTo>
                  <a:pt x="0" y="0"/>
                </a:moveTo>
                <a:lnTo>
                  <a:pt x="3911884" y="0"/>
                </a:lnTo>
                <a:lnTo>
                  <a:pt x="3911884" y="873654"/>
                </a:lnTo>
                <a:lnTo>
                  <a:pt x="0" y="873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13971970" y="475520"/>
            <a:ext cx="4527362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2" y="0"/>
                </a:lnTo>
                <a:lnTo>
                  <a:pt x="4527362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5445631" y="2271177"/>
            <a:ext cx="7396738" cy="1732518"/>
            <a:chOff x="0" y="0"/>
            <a:chExt cx="1948112" cy="45630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48112" cy="456301"/>
            </a:xfrm>
            <a:custGeom>
              <a:avLst/>
              <a:gdLst/>
              <a:ahLst/>
              <a:cxnLst/>
              <a:rect l="l" t="t" r="r" b="b"/>
              <a:pathLst>
                <a:path w="1948112" h="456301">
                  <a:moveTo>
                    <a:pt x="53380" y="0"/>
                  </a:moveTo>
                  <a:lnTo>
                    <a:pt x="1894732" y="0"/>
                  </a:lnTo>
                  <a:cubicBezTo>
                    <a:pt x="1924213" y="0"/>
                    <a:pt x="1948112" y="23899"/>
                    <a:pt x="1948112" y="53380"/>
                  </a:cubicBezTo>
                  <a:lnTo>
                    <a:pt x="1948112" y="402921"/>
                  </a:lnTo>
                  <a:cubicBezTo>
                    <a:pt x="1948112" y="417078"/>
                    <a:pt x="1942488" y="430656"/>
                    <a:pt x="1932477" y="440666"/>
                  </a:cubicBezTo>
                  <a:cubicBezTo>
                    <a:pt x="1922467" y="450677"/>
                    <a:pt x="1908889" y="456301"/>
                    <a:pt x="1894732" y="456301"/>
                  </a:cubicBezTo>
                  <a:lnTo>
                    <a:pt x="53380" y="456301"/>
                  </a:lnTo>
                  <a:cubicBezTo>
                    <a:pt x="23899" y="456301"/>
                    <a:pt x="0" y="432402"/>
                    <a:pt x="0" y="402921"/>
                  </a:cubicBezTo>
                  <a:lnTo>
                    <a:pt x="0" y="53380"/>
                  </a:lnTo>
                  <a:cubicBezTo>
                    <a:pt x="0" y="23899"/>
                    <a:pt x="23899" y="0"/>
                    <a:pt x="5338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A8AFF">
                    <a:alpha val="100000"/>
                  </a:srgbClr>
                </a:gs>
                <a:gs pos="100000">
                  <a:srgbClr val="B2FBFF">
                    <a:alpha val="100000"/>
                  </a:srgbClr>
                </a:gs>
              </a:gsLst>
              <a:lin ang="18900000"/>
            </a:gradFill>
            <a:ln w="57150" cap="rnd">
              <a:solidFill>
                <a:srgbClr val="002952"/>
              </a:soli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1948112" cy="513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1800" b="1">
                  <a:solidFill>
                    <a:srgbClr val="000000"/>
                  </a:solidFill>
                  <a:latin typeface="Montaser Arabic Bold"/>
                  <a:ea typeface="Montaser Arabic Bold"/>
                  <a:cs typeface="Montaser Arabic Bold"/>
                  <a:sym typeface="Montaser Arabic Bold"/>
                </a:rPr>
                <a:t>Frontend</a:t>
              </a:r>
            </a:p>
            <a:p>
              <a:pPr algn="ctr">
                <a:lnSpc>
                  <a:spcPts val="2700"/>
                </a:lnSpc>
              </a:pPr>
              <a:r>
                <a:rPr lang="en-US" sz="1800">
                  <a:solidFill>
                    <a:srgbClr val="000000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Web: Next.js </a:t>
              </a:r>
            </a:p>
            <a:p>
              <a:pPr algn="ctr">
                <a:lnSpc>
                  <a:spcPts val="2700"/>
                </a:lnSpc>
              </a:pPr>
              <a:r>
                <a:rPr lang="en-US" sz="1800">
                  <a:solidFill>
                    <a:srgbClr val="000000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Móvil: React + Expo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445631" y="4515180"/>
            <a:ext cx="7396738" cy="1732518"/>
            <a:chOff x="0" y="0"/>
            <a:chExt cx="1948112" cy="45630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948112" cy="456301"/>
            </a:xfrm>
            <a:custGeom>
              <a:avLst/>
              <a:gdLst/>
              <a:ahLst/>
              <a:cxnLst/>
              <a:rect l="l" t="t" r="r" b="b"/>
              <a:pathLst>
                <a:path w="1948112" h="456301">
                  <a:moveTo>
                    <a:pt x="53380" y="0"/>
                  </a:moveTo>
                  <a:lnTo>
                    <a:pt x="1894732" y="0"/>
                  </a:lnTo>
                  <a:cubicBezTo>
                    <a:pt x="1924213" y="0"/>
                    <a:pt x="1948112" y="23899"/>
                    <a:pt x="1948112" y="53380"/>
                  </a:cubicBezTo>
                  <a:lnTo>
                    <a:pt x="1948112" y="402921"/>
                  </a:lnTo>
                  <a:cubicBezTo>
                    <a:pt x="1948112" y="417078"/>
                    <a:pt x="1942488" y="430656"/>
                    <a:pt x="1932477" y="440666"/>
                  </a:cubicBezTo>
                  <a:cubicBezTo>
                    <a:pt x="1922467" y="450677"/>
                    <a:pt x="1908889" y="456301"/>
                    <a:pt x="1894732" y="456301"/>
                  </a:cubicBezTo>
                  <a:lnTo>
                    <a:pt x="53380" y="456301"/>
                  </a:lnTo>
                  <a:cubicBezTo>
                    <a:pt x="23899" y="456301"/>
                    <a:pt x="0" y="432402"/>
                    <a:pt x="0" y="402921"/>
                  </a:cubicBezTo>
                  <a:lnTo>
                    <a:pt x="0" y="53380"/>
                  </a:lnTo>
                  <a:cubicBezTo>
                    <a:pt x="0" y="23899"/>
                    <a:pt x="23899" y="0"/>
                    <a:pt x="5338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A8AFF">
                    <a:alpha val="100000"/>
                  </a:srgbClr>
                </a:gs>
                <a:gs pos="100000">
                  <a:srgbClr val="B2FBFF">
                    <a:alpha val="100000"/>
                  </a:srgbClr>
                </a:gs>
              </a:gsLst>
              <a:lin ang="18900000"/>
            </a:gradFill>
            <a:ln w="57150" cap="rnd">
              <a:solidFill>
                <a:srgbClr val="002952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1948112" cy="513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1800" b="1">
                  <a:solidFill>
                    <a:srgbClr val="000000"/>
                  </a:solidFill>
                  <a:latin typeface="Montaser Arabic Bold"/>
                  <a:ea typeface="Montaser Arabic Bold"/>
                  <a:cs typeface="Montaser Arabic Bold"/>
                  <a:sym typeface="Montaser Arabic Bold"/>
                </a:rPr>
                <a:t>Backend modular:</a:t>
              </a:r>
            </a:p>
            <a:p>
              <a:pPr algn="ctr">
                <a:lnSpc>
                  <a:spcPts val="2700"/>
                </a:lnSpc>
              </a:pPr>
              <a:r>
                <a:rPr lang="en-US" sz="1800">
                  <a:solidFill>
                    <a:srgbClr val="000000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NestJS</a:t>
              </a:r>
            </a:p>
            <a:p>
              <a:pPr algn="ctr">
                <a:lnSpc>
                  <a:spcPts val="2700"/>
                </a:lnSpc>
              </a:pPr>
              <a:r>
                <a:rPr lang="en-US" sz="1800">
                  <a:solidFill>
                    <a:srgbClr val="000000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Logica de: Autenticacion, Pagos, Subastas, CRUD 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840626" y="7435556"/>
            <a:ext cx="3375770" cy="1601093"/>
            <a:chOff x="0" y="0"/>
            <a:chExt cx="889092" cy="42168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89092" cy="421687"/>
            </a:xfrm>
            <a:custGeom>
              <a:avLst/>
              <a:gdLst/>
              <a:ahLst/>
              <a:cxnLst/>
              <a:rect l="l" t="t" r="r" b="b"/>
              <a:pathLst>
                <a:path w="889092" h="421687">
                  <a:moveTo>
                    <a:pt x="116962" y="0"/>
                  </a:moveTo>
                  <a:lnTo>
                    <a:pt x="772129" y="0"/>
                  </a:lnTo>
                  <a:cubicBezTo>
                    <a:pt x="803150" y="0"/>
                    <a:pt x="832899" y="12323"/>
                    <a:pt x="854834" y="34257"/>
                  </a:cubicBezTo>
                  <a:cubicBezTo>
                    <a:pt x="876769" y="56192"/>
                    <a:pt x="889092" y="85942"/>
                    <a:pt x="889092" y="116962"/>
                  </a:cubicBezTo>
                  <a:lnTo>
                    <a:pt x="889092" y="304725"/>
                  </a:lnTo>
                  <a:cubicBezTo>
                    <a:pt x="889092" y="369321"/>
                    <a:pt x="836726" y="421687"/>
                    <a:pt x="772129" y="421687"/>
                  </a:cubicBezTo>
                  <a:lnTo>
                    <a:pt x="116962" y="421687"/>
                  </a:lnTo>
                  <a:cubicBezTo>
                    <a:pt x="52366" y="421687"/>
                    <a:pt x="0" y="369321"/>
                    <a:pt x="0" y="304725"/>
                  </a:cubicBezTo>
                  <a:lnTo>
                    <a:pt x="0" y="116962"/>
                  </a:lnTo>
                  <a:cubicBezTo>
                    <a:pt x="0" y="52366"/>
                    <a:pt x="52366" y="0"/>
                    <a:pt x="11696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A8AFF">
                    <a:alpha val="100000"/>
                  </a:srgbClr>
                </a:gs>
                <a:gs pos="100000">
                  <a:srgbClr val="B2FBFF">
                    <a:alpha val="100000"/>
                  </a:srgbClr>
                </a:gs>
              </a:gsLst>
              <a:lin ang="18900000"/>
            </a:gradFill>
            <a:ln w="57150" cap="rnd">
              <a:solidFill>
                <a:srgbClr val="002952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889092" cy="4788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1800" b="1">
                  <a:solidFill>
                    <a:srgbClr val="000000"/>
                  </a:solidFill>
                  <a:latin typeface="Montaser Arabic Bold"/>
                  <a:ea typeface="Montaser Arabic Bold"/>
                  <a:cs typeface="Montaser Arabic Bold"/>
                  <a:sym typeface="Montaser Arabic Bold"/>
                </a:rPr>
                <a:t>Base de datos:</a:t>
              </a:r>
            </a:p>
            <a:p>
              <a:pPr algn="ctr">
                <a:lnSpc>
                  <a:spcPts val="2700"/>
                </a:lnSpc>
              </a:pPr>
              <a:r>
                <a:rPr lang="en-US" sz="1800">
                  <a:solidFill>
                    <a:srgbClr val="000000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PostgreSQL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380574" y="7435556"/>
            <a:ext cx="3375770" cy="1601093"/>
            <a:chOff x="0" y="0"/>
            <a:chExt cx="889092" cy="42168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89092" cy="421687"/>
            </a:xfrm>
            <a:custGeom>
              <a:avLst/>
              <a:gdLst/>
              <a:ahLst/>
              <a:cxnLst/>
              <a:rect l="l" t="t" r="r" b="b"/>
              <a:pathLst>
                <a:path w="889092" h="421687">
                  <a:moveTo>
                    <a:pt x="116962" y="0"/>
                  </a:moveTo>
                  <a:lnTo>
                    <a:pt x="772129" y="0"/>
                  </a:lnTo>
                  <a:cubicBezTo>
                    <a:pt x="803150" y="0"/>
                    <a:pt x="832899" y="12323"/>
                    <a:pt x="854834" y="34257"/>
                  </a:cubicBezTo>
                  <a:cubicBezTo>
                    <a:pt x="876769" y="56192"/>
                    <a:pt x="889092" y="85942"/>
                    <a:pt x="889092" y="116962"/>
                  </a:cubicBezTo>
                  <a:lnTo>
                    <a:pt x="889092" y="304725"/>
                  </a:lnTo>
                  <a:cubicBezTo>
                    <a:pt x="889092" y="369321"/>
                    <a:pt x="836726" y="421687"/>
                    <a:pt x="772129" y="421687"/>
                  </a:cubicBezTo>
                  <a:lnTo>
                    <a:pt x="116962" y="421687"/>
                  </a:lnTo>
                  <a:cubicBezTo>
                    <a:pt x="52366" y="421687"/>
                    <a:pt x="0" y="369321"/>
                    <a:pt x="0" y="304725"/>
                  </a:cubicBezTo>
                  <a:lnTo>
                    <a:pt x="0" y="116962"/>
                  </a:lnTo>
                  <a:cubicBezTo>
                    <a:pt x="0" y="52366"/>
                    <a:pt x="52366" y="0"/>
                    <a:pt x="11696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A8AFF">
                    <a:alpha val="100000"/>
                  </a:srgbClr>
                </a:gs>
                <a:gs pos="100000">
                  <a:srgbClr val="B2FBFF">
                    <a:alpha val="100000"/>
                  </a:srgbClr>
                </a:gs>
              </a:gsLst>
              <a:lin ang="18900000"/>
            </a:gradFill>
            <a:ln w="57150" cap="rnd">
              <a:solidFill>
                <a:srgbClr val="002952"/>
              </a:solidFill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889092" cy="4788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1800" b="1">
                  <a:solidFill>
                    <a:srgbClr val="000000"/>
                  </a:solidFill>
                  <a:latin typeface="Montaser Arabic Bold"/>
                  <a:ea typeface="Montaser Arabic Bold"/>
                  <a:cs typeface="Montaser Arabic Bold"/>
                  <a:sym typeface="Montaser Arabic Bold"/>
                </a:rPr>
                <a:t>Eventos tiempo real:</a:t>
              </a:r>
            </a:p>
            <a:p>
              <a:pPr algn="ctr">
                <a:lnSpc>
                  <a:spcPts val="2700"/>
                </a:lnSpc>
              </a:pPr>
              <a:r>
                <a:rPr lang="en-US" sz="1800">
                  <a:solidFill>
                    <a:srgbClr val="000000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Redis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920522" y="7435556"/>
            <a:ext cx="3526853" cy="1686689"/>
            <a:chOff x="0" y="0"/>
            <a:chExt cx="928883" cy="44423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28883" cy="444231"/>
            </a:xfrm>
            <a:custGeom>
              <a:avLst/>
              <a:gdLst/>
              <a:ahLst/>
              <a:cxnLst/>
              <a:rect l="l" t="t" r="r" b="b"/>
              <a:pathLst>
                <a:path w="928883" h="444231">
                  <a:moveTo>
                    <a:pt x="111952" y="0"/>
                  </a:moveTo>
                  <a:lnTo>
                    <a:pt x="816931" y="0"/>
                  </a:lnTo>
                  <a:cubicBezTo>
                    <a:pt x="878760" y="0"/>
                    <a:pt x="928883" y="50123"/>
                    <a:pt x="928883" y="111952"/>
                  </a:cubicBezTo>
                  <a:lnTo>
                    <a:pt x="928883" y="332279"/>
                  </a:lnTo>
                  <a:cubicBezTo>
                    <a:pt x="928883" y="394108"/>
                    <a:pt x="878760" y="444231"/>
                    <a:pt x="816931" y="444231"/>
                  </a:cubicBezTo>
                  <a:lnTo>
                    <a:pt x="111952" y="444231"/>
                  </a:lnTo>
                  <a:cubicBezTo>
                    <a:pt x="50123" y="444231"/>
                    <a:pt x="0" y="394108"/>
                    <a:pt x="0" y="332279"/>
                  </a:cubicBezTo>
                  <a:lnTo>
                    <a:pt x="0" y="111952"/>
                  </a:lnTo>
                  <a:cubicBezTo>
                    <a:pt x="0" y="50123"/>
                    <a:pt x="50123" y="0"/>
                    <a:pt x="11195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6A8AFF">
                    <a:alpha val="100000"/>
                  </a:srgbClr>
                </a:gs>
                <a:gs pos="100000">
                  <a:srgbClr val="B2FBFF">
                    <a:alpha val="100000"/>
                  </a:srgbClr>
                </a:gs>
              </a:gsLst>
              <a:lin ang="18900000"/>
            </a:gradFill>
            <a:ln w="57150" cap="rnd">
              <a:solidFill>
                <a:srgbClr val="002952"/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928883" cy="5013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00"/>
                </a:lnSpc>
              </a:pPr>
              <a:r>
                <a:rPr lang="en-US" sz="1800" b="1">
                  <a:solidFill>
                    <a:srgbClr val="000000"/>
                  </a:solidFill>
                  <a:latin typeface="Montaser Arabic Bold"/>
                  <a:ea typeface="Montaser Arabic Bold"/>
                  <a:cs typeface="Montaser Arabic Bold"/>
                  <a:sym typeface="Montaser Arabic Bold"/>
                </a:rPr>
                <a:t>Servicios externos:</a:t>
              </a:r>
            </a:p>
            <a:p>
              <a:pPr algn="ctr">
                <a:lnSpc>
                  <a:spcPts val="2700"/>
                </a:lnSpc>
              </a:pPr>
              <a:r>
                <a:rPr lang="en-US" sz="1800">
                  <a:solidFill>
                    <a:srgbClr val="000000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Mercado Pago/ Transbank</a:t>
              </a:r>
            </a:p>
            <a:p>
              <a:pPr algn="ctr">
                <a:lnSpc>
                  <a:spcPts val="2700"/>
                </a:lnSpc>
              </a:pPr>
              <a:r>
                <a:rPr lang="en-US" sz="1800">
                  <a:solidFill>
                    <a:srgbClr val="000000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Stripe</a:t>
              </a:r>
            </a:p>
            <a:p>
              <a:pPr algn="ctr">
                <a:lnSpc>
                  <a:spcPts val="2700"/>
                </a:lnSpc>
              </a:pPr>
              <a:r>
                <a:rPr lang="en-US" sz="1800">
                  <a:solidFill>
                    <a:srgbClr val="000000"/>
                  </a:solidFill>
                  <a:latin typeface="Montaser Arabic"/>
                  <a:ea typeface="Montaser Arabic"/>
                  <a:cs typeface="Montaser Arabic"/>
                  <a:sym typeface="Montaser Arabic"/>
                </a:rPr>
                <a:t>CDN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020122" y="257831"/>
            <a:ext cx="6247757" cy="1228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Arquitectura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298485" y="1467580"/>
            <a:ext cx="3539948" cy="561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20"/>
              </a:lnSpc>
              <a:spcBef>
                <a:spcPct val="0"/>
              </a:spcBef>
            </a:pPr>
            <a:r>
              <a:rPr lang="en-US" sz="36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Capas - Modular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273615" y="4116526"/>
            <a:ext cx="2965457" cy="276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REST/Websockets</a:t>
            </a:r>
          </a:p>
        </p:txBody>
      </p:sp>
      <p:sp>
        <p:nvSpPr>
          <p:cNvPr id="24" name="AutoShape 24"/>
          <p:cNvSpPr/>
          <p:nvPr/>
        </p:nvSpPr>
        <p:spPr>
          <a:xfrm>
            <a:off x="9144000" y="4003695"/>
            <a:ext cx="0" cy="51148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25" name="AutoShape 25"/>
          <p:cNvSpPr/>
          <p:nvPr/>
        </p:nvSpPr>
        <p:spPr>
          <a:xfrm flipH="1">
            <a:off x="9144000" y="6247698"/>
            <a:ext cx="0" cy="525654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AutoShape 26"/>
          <p:cNvSpPr/>
          <p:nvPr/>
        </p:nvSpPr>
        <p:spPr>
          <a:xfrm>
            <a:off x="5528511" y="6773352"/>
            <a:ext cx="361548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AutoShape 27"/>
          <p:cNvSpPr/>
          <p:nvPr/>
        </p:nvSpPr>
        <p:spPr>
          <a:xfrm>
            <a:off x="9144000" y="6773352"/>
            <a:ext cx="361548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8" name="AutoShape 28"/>
          <p:cNvSpPr/>
          <p:nvPr/>
        </p:nvSpPr>
        <p:spPr>
          <a:xfrm>
            <a:off x="5528511" y="6773352"/>
            <a:ext cx="41409" cy="697778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9" name="AutoShape 29"/>
          <p:cNvSpPr/>
          <p:nvPr/>
        </p:nvSpPr>
        <p:spPr>
          <a:xfrm>
            <a:off x="12738785" y="6763177"/>
            <a:ext cx="0" cy="655869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0" name="AutoShape 30"/>
          <p:cNvSpPr/>
          <p:nvPr/>
        </p:nvSpPr>
        <p:spPr>
          <a:xfrm>
            <a:off x="9144000" y="6773352"/>
            <a:ext cx="0" cy="662204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4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752327" y="5381439"/>
            <a:ext cx="3727955" cy="5100964"/>
          </a:xfrm>
          <a:custGeom>
            <a:avLst/>
            <a:gdLst/>
            <a:ahLst/>
            <a:cxnLst/>
            <a:rect l="l" t="t" r="r" b="b"/>
            <a:pathLst>
              <a:path w="3727955" h="5100964">
                <a:moveTo>
                  <a:pt x="0" y="0"/>
                </a:moveTo>
                <a:lnTo>
                  <a:pt x="3727955" y="0"/>
                </a:lnTo>
                <a:lnTo>
                  <a:pt x="3727955" y="5100965"/>
                </a:lnTo>
                <a:lnTo>
                  <a:pt x="0" y="51009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33183" y="-194603"/>
            <a:ext cx="3564095" cy="2984930"/>
          </a:xfrm>
          <a:custGeom>
            <a:avLst/>
            <a:gdLst/>
            <a:ahLst/>
            <a:cxnLst/>
            <a:rect l="l" t="t" r="r" b="b"/>
            <a:pathLst>
              <a:path w="3564095" h="2984930">
                <a:moveTo>
                  <a:pt x="0" y="0"/>
                </a:moveTo>
                <a:lnTo>
                  <a:pt x="3564095" y="0"/>
                </a:lnTo>
                <a:lnTo>
                  <a:pt x="3564095" y="2984930"/>
                </a:lnTo>
                <a:lnTo>
                  <a:pt x="0" y="298493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10800000">
            <a:off x="-423461" y="8775390"/>
            <a:ext cx="4527362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2" y="0"/>
                </a:lnTo>
                <a:lnTo>
                  <a:pt x="4527362" y="1011111"/>
                </a:lnTo>
                <a:lnTo>
                  <a:pt x="0" y="1011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13971970" y="475520"/>
            <a:ext cx="4527362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2" y="0"/>
                </a:lnTo>
                <a:lnTo>
                  <a:pt x="4527362" y="1011110"/>
                </a:lnTo>
                <a:lnTo>
                  <a:pt x="0" y="1011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556055" y="678774"/>
            <a:ext cx="7175890" cy="1228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Competencias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885367" y="2296773"/>
            <a:ext cx="8213795" cy="490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9"/>
              </a:lnSpc>
            </a:pPr>
            <a:endParaRPr/>
          </a:p>
          <a:p>
            <a:pPr marL="626109" lvl="1" indent="-313054" algn="l">
              <a:lnSpc>
                <a:spcPts val="434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Desarrollo Web.</a:t>
            </a:r>
          </a:p>
          <a:p>
            <a:pPr marL="626109" lvl="1" indent="-313054" algn="l">
              <a:lnSpc>
                <a:spcPts val="434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Gestion de eventos en tiempo real.</a:t>
            </a:r>
          </a:p>
          <a:p>
            <a:pPr marL="626109" lvl="1" indent="-313054" algn="l">
              <a:lnSpc>
                <a:spcPts val="434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Integración de pasarelas de pagos. </a:t>
            </a:r>
          </a:p>
          <a:p>
            <a:pPr marL="626109" lvl="1" indent="-313054" algn="l">
              <a:lnSpc>
                <a:spcPts val="434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Modelado de Base de Datos.</a:t>
            </a:r>
          </a:p>
          <a:p>
            <a:pPr marL="626109" lvl="1" indent="-313054" algn="l">
              <a:lnSpc>
                <a:spcPts val="434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Tecnicas de ciberseguridad.</a:t>
            </a:r>
          </a:p>
          <a:p>
            <a:pPr marL="626109" lvl="1" indent="-313054" algn="l">
              <a:lnSpc>
                <a:spcPts val="434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Integracion de servicios de terceros.</a:t>
            </a:r>
          </a:p>
          <a:p>
            <a:pPr marL="626109" lvl="1" indent="-313054" algn="l">
              <a:lnSpc>
                <a:spcPts val="434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Gestión ágil con Scrum.</a:t>
            </a:r>
          </a:p>
          <a:p>
            <a:pPr marL="626109" lvl="1" indent="-313054" algn="l">
              <a:lnSpc>
                <a:spcPts val="4349"/>
              </a:lnSpc>
              <a:buFont typeface="Arial"/>
              <a:buChar char="•"/>
            </a:pPr>
            <a:r>
              <a:rPr lang="en-US" sz="2899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Gestión de riesgos.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4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4499711" y="-227459"/>
            <a:ext cx="3998286" cy="4444598"/>
          </a:xfrm>
          <a:custGeom>
            <a:avLst/>
            <a:gdLst/>
            <a:ahLst/>
            <a:cxnLst/>
            <a:rect l="l" t="t" r="r" b="b"/>
            <a:pathLst>
              <a:path w="3998286" h="4444598">
                <a:moveTo>
                  <a:pt x="3998286" y="0"/>
                </a:moveTo>
                <a:lnTo>
                  <a:pt x="0" y="0"/>
                </a:lnTo>
                <a:lnTo>
                  <a:pt x="0" y="4444597"/>
                </a:lnTo>
                <a:lnTo>
                  <a:pt x="3998286" y="4444597"/>
                </a:lnTo>
                <a:lnTo>
                  <a:pt x="399828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977513" y="1237730"/>
            <a:ext cx="7166487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Riesgos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96060" y="2968506"/>
            <a:ext cx="5087687" cy="3348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7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Tecnicos: </a:t>
            </a:r>
          </a:p>
          <a:p>
            <a:pPr marL="539751" lvl="1" indent="-269876" algn="l">
              <a:lnSpc>
                <a:spcPts val="375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Latencia y desincronizacion en subastas</a:t>
            </a:r>
          </a:p>
          <a:p>
            <a:pPr marL="539751" lvl="1" indent="-269876" algn="l">
              <a:lnSpc>
                <a:spcPts val="375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Integracion de pasarela de pagos</a:t>
            </a:r>
          </a:p>
          <a:p>
            <a:pPr marL="539751" lvl="1" indent="-269876" algn="l">
              <a:lnSpc>
                <a:spcPts val="375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Escalabilidad del backend y bases de datos</a:t>
            </a:r>
          </a:p>
        </p:txBody>
      </p:sp>
      <p:sp>
        <p:nvSpPr>
          <p:cNvPr id="5" name="Freeform 5"/>
          <p:cNvSpPr/>
          <p:nvPr/>
        </p:nvSpPr>
        <p:spPr>
          <a:xfrm rot="-10800000">
            <a:off x="8398920" y="9177937"/>
            <a:ext cx="4527362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2" y="0"/>
                </a:lnTo>
                <a:lnTo>
                  <a:pt x="4527362" y="1011111"/>
                </a:lnTo>
                <a:lnTo>
                  <a:pt x="0" y="1011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V="1">
            <a:off x="-753348" y="7765835"/>
            <a:ext cx="3564095" cy="2984930"/>
          </a:xfrm>
          <a:custGeom>
            <a:avLst/>
            <a:gdLst/>
            <a:ahLst/>
            <a:cxnLst/>
            <a:rect l="l" t="t" r="r" b="b"/>
            <a:pathLst>
              <a:path w="3564095" h="2984930">
                <a:moveTo>
                  <a:pt x="0" y="2984930"/>
                </a:moveTo>
                <a:lnTo>
                  <a:pt x="3564096" y="2984930"/>
                </a:lnTo>
                <a:lnTo>
                  <a:pt x="3564096" y="0"/>
                </a:lnTo>
                <a:lnTo>
                  <a:pt x="0" y="0"/>
                </a:lnTo>
                <a:lnTo>
                  <a:pt x="0" y="29849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068270" y="2978031"/>
            <a:ext cx="5087687" cy="2828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5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Legales:</a:t>
            </a:r>
          </a:p>
          <a:p>
            <a:pPr marL="539751" lvl="1" indent="-269876" algn="l">
              <a:lnSpc>
                <a:spcPts val="375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Desproteccion de datos personales</a:t>
            </a:r>
          </a:p>
          <a:p>
            <a:pPr marL="539751" lvl="1" indent="-269876" algn="l">
              <a:lnSpc>
                <a:spcPts val="375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Fraude en transacciones </a:t>
            </a:r>
          </a:p>
          <a:p>
            <a:pPr marL="539751" lvl="1" indent="-269876" algn="l">
              <a:lnSpc>
                <a:spcPts val="375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Incumplimiento normativo de servicios financieros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641732" y="2978031"/>
            <a:ext cx="5087687" cy="3305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5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Grupales:</a:t>
            </a:r>
          </a:p>
          <a:p>
            <a:pPr marL="539751" lvl="1" indent="-269876" algn="l">
              <a:lnSpc>
                <a:spcPts val="375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Falta de comunicacion</a:t>
            </a:r>
          </a:p>
          <a:p>
            <a:pPr marL="539751" lvl="1" indent="-269876" algn="l">
              <a:lnSpc>
                <a:spcPts val="375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Subestimar tareas complejas</a:t>
            </a:r>
          </a:p>
          <a:p>
            <a:pPr marL="539751" lvl="1" indent="-269876" algn="l">
              <a:lnSpc>
                <a:spcPts val="375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Curva de aprendizaje </a:t>
            </a:r>
          </a:p>
          <a:p>
            <a:pPr marL="539751" lvl="1" indent="-269876" algn="l">
              <a:lnSpc>
                <a:spcPts val="375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Dependencia de conocimiento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4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4499711" y="-227459"/>
            <a:ext cx="3998286" cy="4444598"/>
          </a:xfrm>
          <a:custGeom>
            <a:avLst/>
            <a:gdLst/>
            <a:ahLst/>
            <a:cxnLst/>
            <a:rect l="l" t="t" r="r" b="b"/>
            <a:pathLst>
              <a:path w="3998286" h="4444598">
                <a:moveTo>
                  <a:pt x="3998286" y="0"/>
                </a:moveTo>
                <a:lnTo>
                  <a:pt x="0" y="0"/>
                </a:lnTo>
                <a:lnTo>
                  <a:pt x="0" y="4444597"/>
                </a:lnTo>
                <a:lnTo>
                  <a:pt x="3998286" y="4444597"/>
                </a:lnTo>
                <a:lnTo>
                  <a:pt x="399828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977513" y="1237730"/>
            <a:ext cx="7166487" cy="1228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Seguridad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96060" y="2968506"/>
            <a:ext cx="5087687" cy="433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7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Protección de transacciones:</a:t>
            </a:r>
          </a:p>
          <a:p>
            <a:pPr algn="l">
              <a:lnSpc>
                <a:spcPts val="4050"/>
              </a:lnSpc>
            </a:pPr>
            <a:endParaRPr lang="en-US" sz="2700">
              <a:solidFill>
                <a:srgbClr val="FFFFFF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  <a:p>
            <a:pPr marL="539751" lvl="1" indent="-269876" algn="l">
              <a:lnSpc>
                <a:spcPts val="375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Los fondos quedan retenidos hasta confirmar la entrega</a:t>
            </a:r>
          </a:p>
          <a:p>
            <a:pPr marL="539751" lvl="1" indent="-269876" algn="l">
              <a:lnSpc>
                <a:spcPts val="375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Confirmación por código para liberar el pago</a:t>
            </a:r>
          </a:p>
          <a:p>
            <a:pPr marL="539751" lvl="1" indent="-269876" algn="l">
              <a:lnSpc>
                <a:spcPts val="375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Verificación de identidad de vendedor y comprador</a:t>
            </a:r>
          </a:p>
        </p:txBody>
      </p:sp>
      <p:sp>
        <p:nvSpPr>
          <p:cNvPr id="5" name="Freeform 5"/>
          <p:cNvSpPr/>
          <p:nvPr/>
        </p:nvSpPr>
        <p:spPr>
          <a:xfrm rot="-10800000">
            <a:off x="8398920" y="9177937"/>
            <a:ext cx="4527362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2" y="0"/>
                </a:lnTo>
                <a:lnTo>
                  <a:pt x="4527362" y="1011111"/>
                </a:lnTo>
                <a:lnTo>
                  <a:pt x="0" y="1011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V="1">
            <a:off x="-753348" y="7765835"/>
            <a:ext cx="3564095" cy="2984930"/>
          </a:xfrm>
          <a:custGeom>
            <a:avLst/>
            <a:gdLst/>
            <a:ahLst/>
            <a:cxnLst/>
            <a:rect l="l" t="t" r="r" b="b"/>
            <a:pathLst>
              <a:path w="3564095" h="2984930">
                <a:moveTo>
                  <a:pt x="0" y="2984930"/>
                </a:moveTo>
                <a:lnTo>
                  <a:pt x="3564096" y="2984930"/>
                </a:lnTo>
                <a:lnTo>
                  <a:pt x="3564096" y="0"/>
                </a:lnTo>
                <a:lnTo>
                  <a:pt x="0" y="0"/>
                </a:lnTo>
                <a:lnTo>
                  <a:pt x="0" y="29849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068270" y="2978031"/>
            <a:ext cx="5087687" cy="473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5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Protección de datos</a:t>
            </a:r>
          </a:p>
          <a:p>
            <a:pPr algn="l">
              <a:lnSpc>
                <a:spcPts val="3750"/>
              </a:lnSpc>
            </a:pPr>
            <a:endParaRPr lang="en-US" sz="2500">
              <a:solidFill>
                <a:srgbClr val="FFFFFF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  <a:p>
            <a:pPr marL="539751" lvl="1" indent="-269876" algn="l">
              <a:lnSpc>
                <a:spcPts val="375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Cifrado datos personales y de pago</a:t>
            </a:r>
          </a:p>
          <a:p>
            <a:pPr marL="539751" lvl="1" indent="-269876" algn="l">
              <a:lnSpc>
                <a:spcPts val="375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Cumplimiento de la Ley de Protección de Datos Personales</a:t>
            </a:r>
          </a:p>
          <a:p>
            <a:pPr marL="539751" lvl="1" indent="-269876" algn="l">
              <a:lnSpc>
                <a:spcPts val="375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Integración con pasarelas cifradas (Mercadopago-Transbank)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641732" y="2978031"/>
            <a:ext cx="5087687" cy="568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5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Infraestructura:</a:t>
            </a:r>
          </a:p>
          <a:p>
            <a:pPr marL="539751" lvl="1" indent="-269876" algn="l">
              <a:lnSpc>
                <a:spcPts val="375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Autenticación y verificación de identidad para login seguro</a:t>
            </a:r>
          </a:p>
          <a:p>
            <a:pPr marL="539751" lvl="1" indent="-269876" algn="l">
              <a:lnSpc>
                <a:spcPts val="375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Pasarela de pagos con Escrow</a:t>
            </a:r>
          </a:p>
          <a:p>
            <a:pPr marL="539751" lvl="1" indent="-269876" algn="l">
              <a:lnSpc>
                <a:spcPts val="375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Almacenamiento seguro de imágenes en Cloudflare R2 </a:t>
            </a:r>
          </a:p>
          <a:p>
            <a:pPr marL="539751" lvl="1" indent="-269876" algn="l">
              <a:lnSpc>
                <a:spcPts val="375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Sincronización en tiempo real para evitar desincronización de pujas en las subastas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4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14499711" y="-227459"/>
            <a:ext cx="3998286" cy="4444598"/>
          </a:xfrm>
          <a:custGeom>
            <a:avLst/>
            <a:gdLst/>
            <a:ahLst/>
            <a:cxnLst/>
            <a:rect l="l" t="t" r="r" b="b"/>
            <a:pathLst>
              <a:path w="3998286" h="4444598">
                <a:moveTo>
                  <a:pt x="3998286" y="0"/>
                </a:moveTo>
                <a:lnTo>
                  <a:pt x="0" y="0"/>
                </a:lnTo>
                <a:lnTo>
                  <a:pt x="0" y="4444597"/>
                </a:lnTo>
                <a:lnTo>
                  <a:pt x="3998286" y="4444597"/>
                </a:lnTo>
                <a:lnTo>
                  <a:pt x="3998286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977513" y="1237730"/>
            <a:ext cx="9498813" cy="1228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Modelo de negocio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96060" y="2968506"/>
            <a:ext cx="5087687" cy="4777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7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Venta: </a:t>
            </a:r>
          </a:p>
          <a:p>
            <a:pPr marL="539751" lvl="1" indent="-269876" algn="l">
              <a:lnSpc>
                <a:spcPts val="375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Cobro de un margen competitivo de entre el 5% y el 10% sobre el total de la transacción exitosa (notoriamente inferior al 20%-30% de galerías tradicionales y plataformas extranjeras).</a:t>
            </a:r>
          </a:p>
          <a:p>
            <a:pPr algn="l">
              <a:lnSpc>
                <a:spcPts val="3750"/>
              </a:lnSpc>
            </a:pPr>
            <a:endParaRPr lang="en-US" sz="2500">
              <a:solidFill>
                <a:srgbClr val="FFFFFF"/>
              </a:solidFill>
              <a:latin typeface="Montaser Arabic"/>
              <a:ea typeface="Montaser Arabic"/>
              <a:cs typeface="Montaser Arabic"/>
              <a:sym typeface="Montaser Arabic"/>
            </a:endParaRPr>
          </a:p>
        </p:txBody>
      </p:sp>
      <p:sp>
        <p:nvSpPr>
          <p:cNvPr id="5" name="Freeform 5"/>
          <p:cNvSpPr/>
          <p:nvPr/>
        </p:nvSpPr>
        <p:spPr>
          <a:xfrm rot="-10800000">
            <a:off x="8398920" y="9177937"/>
            <a:ext cx="4527362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2" y="0"/>
                </a:lnTo>
                <a:lnTo>
                  <a:pt x="4527362" y="1011111"/>
                </a:lnTo>
                <a:lnTo>
                  <a:pt x="0" y="1011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V="1">
            <a:off x="-753348" y="7765835"/>
            <a:ext cx="3564095" cy="2984930"/>
          </a:xfrm>
          <a:custGeom>
            <a:avLst/>
            <a:gdLst/>
            <a:ahLst/>
            <a:cxnLst/>
            <a:rect l="l" t="t" r="r" b="b"/>
            <a:pathLst>
              <a:path w="3564095" h="2984930">
                <a:moveTo>
                  <a:pt x="0" y="2984930"/>
                </a:moveTo>
                <a:lnTo>
                  <a:pt x="3564096" y="2984930"/>
                </a:lnTo>
                <a:lnTo>
                  <a:pt x="3564096" y="0"/>
                </a:lnTo>
                <a:lnTo>
                  <a:pt x="0" y="0"/>
                </a:lnTo>
                <a:lnTo>
                  <a:pt x="0" y="29849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068270" y="2978031"/>
            <a:ext cx="5087687" cy="2352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5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Subasta:</a:t>
            </a:r>
          </a:p>
          <a:p>
            <a:pPr marL="539751" lvl="1" indent="-269876" algn="l">
              <a:lnSpc>
                <a:spcPts val="375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Tarifa porcentual aplicada únicamente si el remate alcanza el precio de reserva o finaliza con adjudicación.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641732" y="2978031"/>
            <a:ext cx="5087687" cy="3781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0"/>
              </a:lnSpc>
            </a:pPr>
            <a:r>
              <a:rPr lang="en-US" sz="25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Idea de mejora:</a:t>
            </a:r>
          </a:p>
          <a:p>
            <a:pPr marL="539751" lvl="1" indent="-269876" algn="l">
              <a:lnSpc>
                <a:spcPts val="375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Servicios de Destacado / Publicidad (Opcional a futuro)</a:t>
            </a:r>
            <a:r>
              <a:rPr lang="en-US" sz="2500" b="1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:</a:t>
            </a:r>
            <a:r>
              <a:rPr lang="en-US" sz="25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Cobro por promocionar tiendas o posicionar subastas en la sección principal del marketplace.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4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1526189" y="5966655"/>
            <a:ext cx="2794156" cy="5846533"/>
          </a:xfrm>
          <a:custGeom>
            <a:avLst/>
            <a:gdLst/>
            <a:ahLst/>
            <a:cxnLst/>
            <a:rect l="l" t="t" r="r" b="b"/>
            <a:pathLst>
              <a:path w="2794156" h="5846533">
                <a:moveTo>
                  <a:pt x="0" y="0"/>
                </a:moveTo>
                <a:lnTo>
                  <a:pt x="2794156" y="0"/>
                </a:lnTo>
                <a:lnTo>
                  <a:pt x="2794156" y="5846534"/>
                </a:lnTo>
                <a:lnTo>
                  <a:pt x="0" y="58465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8166675" y="1534255"/>
            <a:ext cx="3998331" cy="8295293"/>
            <a:chOff x="0" y="0"/>
            <a:chExt cx="9182100" cy="19050000"/>
          </a:xfrm>
        </p:grpSpPr>
        <p:sp>
          <p:nvSpPr>
            <p:cNvPr id="4" name="Freeform 4"/>
            <p:cNvSpPr/>
            <p:nvPr/>
          </p:nvSpPr>
          <p:spPr>
            <a:xfrm>
              <a:off x="395859" y="240665"/>
              <a:ext cx="8381619" cy="18062447"/>
            </a:xfrm>
            <a:custGeom>
              <a:avLst/>
              <a:gdLst/>
              <a:ahLst/>
              <a:cxnLst/>
              <a:rect l="l" t="t" r="r" b="b"/>
              <a:pathLst>
                <a:path w="8381619" h="18062447">
                  <a:moveTo>
                    <a:pt x="7301738" y="18062447"/>
                  </a:moveTo>
                  <a:lnTo>
                    <a:pt x="1080008" y="18062447"/>
                  </a:lnTo>
                  <a:cubicBezTo>
                    <a:pt x="483489" y="18062447"/>
                    <a:pt x="0" y="17578832"/>
                    <a:pt x="0" y="16982439"/>
                  </a:cubicBezTo>
                  <a:lnTo>
                    <a:pt x="0" y="1082675"/>
                  </a:lnTo>
                  <a:cubicBezTo>
                    <a:pt x="0" y="484759"/>
                    <a:pt x="484759" y="0"/>
                    <a:pt x="1082675" y="0"/>
                  </a:cubicBezTo>
                  <a:lnTo>
                    <a:pt x="7299071" y="0"/>
                  </a:lnTo>
                  <a:cubicBezTo>
                    <a:pt x="7896988" y="0"/>
                    <a:pt x="8381619" y="484759"/>
                    <a:pt x="8381619" y="1082548"/>
                  </a:cubicBezTo>
                  <a:lnTo>
                    <a:pt x="8381619" y="16982439"/>
                  </a:lnTo>
                  <a:cubicBezTo>
                    <a:pt x="8381873" y="17578959"/>
                    <a:pt x="7898384" y="18062447"/>
                    <a:pt x="7301738" y="18062447"/>
                  </a:cubicBezTo>
                  <a:close/>
                </a:path>
              </a:pathLst>
            </a:custGeom>
            <a:blipFill>
              <a:blip r:embed="rId3"/>
              <a:stretch>
                <a:fillRect t="-239" b="-239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0" y="0"/>
              <a:ext cx="9182100" cy="19050000"/>
            </a:xfrm>
            <a:custGeom>
              <a:avLst/>
              <a:gdLst/>
              <a:ahLst/>
              <a:cxnLst/>
              <a:rect l="l" t="t" r="r" b="b"/>
              <a:pathLst>
                <a:path w="9182100" h="19050000">
                  <a:moveTo>
                    <a:pt x="9182100" y="0"/>
                  </a:moveTo>
                  <a:lnTo>
                    <a:pt x="9182100" y="19050000"/>
                  </a:lnTo>
                  <a:lnTo>
                    <a:pt x="0" y="19050000"/>
                  </a:lnTo>
                  <a:lnTo>
                    <a:pt x="0" y="0"/>
                  </a:lnTo>
                  <a:lnTo>
                    <a:pt x="9182100" y="0"/>
                  </a:lnTo>
                  <a:close/>
                </a:path>
              </a:pathLst>
            </a:custGeom>
            <a:blipFill>
              <a:blip r:embed="rId4"/>
              <a:stretch>
                <a:fillRect t="-208" b="-208"/>
              </a:stretch>
            </a:blipFill>
          </p:spPr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2577605" y="184161"/>
            <a:ext cx="4681695" cy="9713059"/>
            <a:chOff x="0" y="0"/>
            <a:chExt cx="9182100" cy="19050000"/>
          </a:xfrm>
        </p:grpSpPr>
        <p:sp>
          <p:nvSpPr>
            <p:cNvPr id="7" name="Freeform 7"/>
            <p:cNvSpPr/>
            <p:nvPr/>
          </p:nvSpPr>
          <p:spPr>
            <a:xfrm>
              <a:off x="395859" y="240665"/>
              <a:ext cx="8381619" cy="18062447"/>
            </a:xfrm>
            <a:custGeom>
              <a:avLst/>
              <a:gdLst/>
              <a:ahLst/>
              <a:cxnLst/>
              <a:rect l="l" t="t" r="r" b="b"/>
              <a:pathLst>
                <a:path w="8381619" h="18062447">
                  <a:moveTo>
                    <a:pt x="7301738" y="18062447"/>
                  </a:moveTo>
                  <a:lnTo>
                    <a:pt x="1080008" y="18062447"/>
                  </a:lnTo>
                  <a:cubicBezTo>
                    <a:pt x="483489" y="18062447"/>
                    <a:pt x="0" y="17578832"/>
                    <a:pt x="0" y="16982439"/>
                  </a:cubicBezTo>
                  <a:lnTo>
                    <a:pt x="0" y="1082675"/>
                  </a:lnTo>
                  <a:cubicBezTo>
                    <a:pt x="0" y="484759"/>
                    <a:pt x="484759" y="0"/>
                    <a:pt x="1082675" y="0"/>
                  </a:cubicBezTo>
                  <a:lnTo>
                    <a:pt x="7299071" y="0"/>
                  </a:lnTo>
                  <a:cubicBezTo>
                    <a:pt x="7896988" y="0"/>
                    <a:pt x="8381619" y="484759"/>
                    <a:pt x="8381619" y="1082548"/>
                  </a:cubicBezTo>
                  <a:lnTo>
                    <a:pt x="8381619" y="16982439"/>
                  </a:lnTo>
                  <a:cubicBezTo>
                    <a:pt x="8381873" y="17578959"/>
                    <a:pt x="7898384" y="18062447"/>
                    <a:pt x="7301738" y="18062447"/>
                  </a:cubicBezTo>
                  <a:close/>
                </a:path>
              </a:pathLst>
            </a:custGeom>
            <a:blipFill>
              <a:blip r:embed="rId5"/>
              <a:stretch>
                <a:fillRect t="-239" b="-239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0" y="0"/>
              <a:ext cx="9182100" cy="19050000"/>
            </a:xfrm>
            <a:custGeom>
              <a:avLst/>
              <a:gdLst/>
              <a:ahLst/>
              <a:cxnLst/>
              <a:rect l="l" t="t" r="r" b="b"/>
              <a:pathLst>
                <a:path w="9182100" h="19050000">
                  <a:moveTo>
                    <a:pt x="9182100" y="0"/>
                  </a:moveTo>
                  <a:lnTo>
                    <a:pt x="9182100" y="19050000"/>
                  </a:lnTo>
                  <a:lnTo>
                    <a:pt x="0" y="19050000"/>
                  </a:lnTo>
                  <a:lnTo>
                    <a:pt x="0" y="0"/>
                  </a:lnTo>
                  <a:lnTo>
                    <a:pt x="9182100" y="0"/>
                  </a:lnTo>
                  <a:close/>
                </a:path>
              </a:pathLst>
            </a:custGeom>
            <a:blipFill>
              <a:blip r:embed="rId4"/>
              <a:stretch>
                <a:fillRect t="-208" b="-208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701445" y="305605"/>
            <a:ext cx="4443643" cy="1228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Mockups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41662" y="1754662"/>
            <a:ext cx="5163209" cy="1399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50"/>
              </a:lnSpc>
            </a:pPr>
            <a:r>
              <a:rPr lang="en-US" sz="2500" b="1">
                <a:solidFill>
                  <a:srgbClr val="FFFFFF"/>
                </a:solidFill>
                <a:latin typeface="Montaser Arabic Bold"/>
                <a:ea typeface="Montaser Arabic Bold"/>
                <a:cs typeface="Montaser Arabic Bold"/>
                <a:sym typeface="Montaser Arabic Bold"/>
              </a:rPr>
              <a:t>Prototipo de la versión movil</a:t>
            </a:r>
          </a:p>
          <a:p>
            <a:pPr algn="ctr">
              <a:lnSpc>
                <a:spcPts val="3750"/>
              </a:lnSpc>
            </a:pPr>
            <a:r>
              <a:rPr lang="en-US" sz="25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1. Pagina de inicio</a:t>
            </a:r>
          </a:p>
          <a:p>
            <a:pPr algn="ctr">
              <a:lnSpc>
                <a:spcPts val="3750"/>
              </a:lnSpc>
              <a:spcBef>
                <a:spcPct val="0"/>
              </a:spcBef>
            </a:pPr>
            <a:r>
              <a:rPr lang="en-US" sz="25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2. Subasta de producto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41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552894" y="5143500"/>
            <a:ext cx="5963630" cy="5431873"/>
          </a:xfrm>
          <a:custGeom>
            <a:avLst/>
            <a:gdLst/>
            <a:ahLst/>
            <a:cxnLst/>
            <a:rect l="l" t="t" r="r" b="b"/>
            <a:pathLst>
              <a:path w="5963630" h="5431873">
                <a:moveTo>
                  <a:pt x="0" y="0"/>
                </a:moveTo>
                <a:lnTo>
                  <a:pt x="5963631" y="0"/>
                </a:lnTo>
                <a:lnTo>
                  <a:pt x="5963631" y="5431873"/>
                </a:lnTo>
                <a:lnTo>
                  <a:pt x="0" y="54318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238494" y="4020725"/>
            <a:ext cx="2654814" cy="4320540"/>
            <a:chOff x="0" y="0"/>
            <a:chExt cx="3539752" cy="576072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 l="29492" r="29492"/>
            <a:stretch>
              <a:fillRect/>
            </a:stretch>
          </p:blipFill>
          <p:spPr>
            <a:xfrm>
              <a:off x="0" y="0"/>
              <a:ext cx="3539752" cy="5760720"/>
            </a:xfrm>
            <a:prstGeom prst="rect">
              <a:avLst/>
            </a:prstGeom>
          </p:spPr>
        </p:pic>
      </p:grpSp>
      <p:grpSp>
        <p:nvGrpSpPr>
          <p:cNvPr id="5" name="Group 5"/>
          <p:cNvGrpSpPr/>
          <p:nvPr/>
        </p:nvGrpSpPr>
        <p:grpSpPr>
          <a:xfrm>
            <a:off x="12096222" y="4020725"/>
            <a:ext cx="4086561" cy="4320540"/>
            <a:chOff x="0" y="0"/>
            <a:chExt cx="5448748" cy="5760720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4"/>
            <a:srcRect l="18195" r="18195"/>
            <a:stretch>
              <a:fillRect/>
            </a:stretch>
          </p:blipFill>
          <p:spPr>
            <a:xfrm>
              <a:off x="0" y="0"/>
              <a:ext cx="5448748" cy="5760720"/>
            </a:xfrm>
            <a:prstGeom prst="rect">
              <a:avLst/>
            </a:prstGeom>
          </p:spPr>
        </p:pic>
      </p:grpSp>
      <p:sp>
        <p:nvSpPr>
          <p:cNvPr id="7" name="TextBox 7"/>
          <p:cNvSpPr txBox="1"/>
          <p:nvPr/>
        </p:nvSpPr>
        <p:spPr>
          <a:xfrm>
            <a:off x="2105217" y="1936210"/>
            <a:ext cx="14077566" cy="1228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n-US" sz="8000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Conclusiones</a:t>
            </a:r>
          </a:p>
        </p:txBody>
      </p:sp>
      <p:sp>
        <p:nvSpPr>
          <p:cNvPr id="8" name="Freeform 8"/>
          <p:cNvSpPr/>
          <p:nvPr/>
        </p:nvSpPr>
        <p:spPr>
          <a:xfrm rot="-5400000" flipV="1">
            <a:off x="1459514" y="-1673036"/>
            <a:ext cx="2794156" cy="5846533"/>
          </a:xfrm>
          <a:custGeom>
            <a:avLst/>
            <a:gdLst/>
            <a:ahLst/>
            <a:cxnLst/>
            <a:rect l="l" t="t" r="r" b="b"/>
            <a:pathLst>
              <a:path w="2794156" h="5846533">
                <a:moveTo>
                  <a:pt x="0" y="5846533"/>
                </a:moveTo>
                <a:lnTo>
                  <a:pt x="2794156" y="5846533"/>
                </a:lnTo>
                <a:lnTo>
                  <a:pt x="2794156" y="0"/>
                </a:lnTo>
                <a:lnTo>
                  <a:pt x="0" y="0"/>
                </a:lnTo>
                <a:lnTo>
                  <a:pt x="0" y="584653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5400000">
            <a:off x="-1234981" y="7939120"/>
            <a:ext cx="4527362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2" y="0"/>
                </a:lnTo>
                <a:lnTo>
                  <a:pt x="4527362" y="1011111"/>
                </a:lnTo>
                <a:lnTo>
                  <a:pt x="0" y="1011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5400000">
            <a:off x="14995619" y="1440180"/>
            <a:ext cx="4527362" cy="1011111"/>
          </a:xfrm>
          <a:custGeom>
            <a:avLst/>
            <a:gdLst/>
            <a:ahLst/>
            <a:cxnLst/>
            <a:rect l="l" t="t" r="r" b="b"/>
            <a:pathLst>
              <a:path w="4527362" h="1011111">
                <a:moveTo>
                  <a:pt x="0" y="0"/>
                </a:moveTo>
                <a:lnTo>
                  <a:pt x="4527362" y="0"/>
                </a:lnTo>
                <a:lnTo>
                  <a:pt x="4527362" y="1011111"/>
                </a:lnTo>
                <a:lnTo>
                  <a:pt x="0" y="10111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915658" y="3584480"/>
            <a:ext cx="6122811" cy="3573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0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Vindex</a:t>
            </a:r>
            <a:r>
              <a:rPr lang="en-US" sz="2700" u="none">
                <a:solidFill>
                  <a:srgbClr val="FFFFFF"/>
                </a:solidFill>
                <a:latin typeface="Montaser Arabic"/>
                <a:ea typeface="Montaser Arabic"/>
                <a:cs typeface="Montaser Arabic"/>
                <a:sym typeface="Montaser Arabic"/>
              </a:rPr>
              <a:t> cumple con la necesidad de contar con un marketplace chileno seguro para transacciones entre particulares, comunidad y ventas por subasta además, incentiva a ser utilizado por vendedores  gracias a comisiones competitivas 5%-10%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829</Words>
  <Application>Microsoft Office PowerPoint</Application>
  <PresentationFormat>Custom</PresentationFormat>
  <Paragraphs>133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Raleway Bold</vt:lpstr>
      <vt:lpstr>Arial</vt:lpstr>
      <vt:lpstr>Montaser Arabic</vt:lpstr>
      <vt:lpstr>Calibri</vt:lpstr>
      <vt:lpstr>Montaser Arabic Bold</vt:lpstr>
      <vt:lpstr>Raleway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Presentacion proyecto </dc:title>
  <cp:lastModifiedBy>L14</cp:lastModifiedBy>
  <cp:revision>3</cp:revision>
  <dcterms:created xsi:type="dcterms:W3CDTF">2006-08-16T00:00:00Z</dcterms:created>
  <dcterms:modified xsi:type="dcterms:W3CDTF">2026-08-31T03:30:02Z</dcterms:modified>
  <dc:identifier>DAHThbH5Ung</dc:identifier>
</cp:coreProperties>
</file>